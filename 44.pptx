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  <p:sldMasterId id="2147483661" r:id="rId2"/>
  </p:sldMasterIdLst>
  <p:notesMasterIdLst>
    <p:notesMasterId r:id="rId7"/>
  </p:notesMasterIdLst>
  <p:sldIdLst>
    <p:sldId id="256" r:id="rId3"/>
    <p:sldId id="1275" r:id="rId4"/>
    <p:sldId id="270" r:id="rId5"/>
    <p:sldId id="1276" r:id="rId6"/>
  </p:sldIdLst>
  <p:sldSz cx="9144000" cy="5143500" type="screen16x9"/>
  <p:notesSz cx="6858000" cy="9144000"/>
  <p:embeddedFontLst>
    <p:embeddedFont>
      <p:font typeface="Calibri" panose="020F0502020204030204" pitchFamily="34" charset="0"/>
      <p:regular r:id="rId8"/>
      <p:bold r:id="rId9"/>
      <p:italic r:id="rId10"/>
      <p:boldItalic r:id="rId11"/>
    </p:embeddedFont>
    <p:embeddedFont>
      <p:font typeface="Calibri Light" panose="020F0302020204030204" pitchFamily="34" charset="0"/>
      <p:regular r:id="rId12"/>
      <p:italic r:id="rId13"/>
    </p:embeddedFont>
    <p:embeddedFont>
      <p:font typeface="Cambria Math" panose="02040503050406030204" pitchFamily="18" charset="0"/>
      <p:regular r:id="rId14"/>
    </p:embeddedFont>
    <p:embeddedFont>
      <p:font typeface="Fira Sans Condensed" panose="020B0503050000020004" pitchFamily="34" charset="0"/>
      <p:regular r:id="rId15"/>
      <p:bold r:id="rId16"/>
      <p:italic r:id="rId17"/>
      <p:boldItalic r:id="rId18"/>
    </p:embeddedFont>
    <p:embeddedFont>
      <p:font typeface="Fira Sans Condensed Light" panose="020B0403050000020004" pitchFamily="34" charset="0"/>
      <p:regular r:id="rId19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521415D9-36F7-43E2-AB2F-B90AF26B5E84}">
      <p14:sectionLst xmlns:p14="http://schemas.microsoft.com/office/powerpoint/2010/main">
        <p14:section name="Default Section" id="{EB8A67ED-EE9D-4EB8-AEC1-FE077C6FCFD8}">
          <p14:sldIdLst>
            <p14:sldId id="256"/>
          </p14:sldIdLst>
        </p14:section>
        <p14:section name="40" id="{871D71D3-5F4D-4837-8B4E-AA1D0EA24B0E}">
          <p14:sldIdLst>
            <p14:sldId id="1275"/>
            <p14:sldId id="270"/>
          </p14:sldIdLst>
        </p14:section>
        <p14:section name="Summary" id="{F36FC947-44A6-418A-A449-AF32E1F53771}">
          <p14:sldIdLst>
            <p14:sldId id="1276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625">
          <p15:clr>
            <a:srgbClr val="9AA0A6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E64E37"/>
    <a:srgbClr val="007F73"/>
    <a:srgbClr val="90FFFF"/>
    <a:srgbClr val="43BAB4"/>
    <a:srgbClr val="8EFCFC"/>
    <a:srgbClr val="C0FFF9"/>
    <a:srgbClr val="404D5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D0F7ABB-7DAD-7804-B6F5-97C0FC03BAB6}" v="1" dt="2026-01-07T16:54:56.715"/>
  </p1510:revLst>
</p1510:revInfo>
</file>

<file path=ppt/tableStyles.xml><?xml version="1.0" encoding="utf-8"?>
<a:tblStyleLst xmlns:a="http://schemas.openxmlformats.org/drawingml/2006/main" def="{E6805361-5E92-4A52-AFBB-D52BBC9DF8C0}">
  <a:tblStyle styleId="{E6805361-5E92-4A52-AFBB-D52BBC9DF8C0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/>
      <a:tcStyle>
        <a:tcBdr/>
      </a:tcStyle>
    </a:band1H>
    <a:band2H>
      <a:tcTxStyle/>
      <a:tcStyle>
        <a:tcBdr/>
      </a:tcStyle>
    </a:band2H>
    <a:band1V>
      <a:tcTxStyle/>
      <a:tcStyle>
        <a:tcBdr/>
      </a:tcStyle>
    </a:band1V>
    <a:band2V>
      <a:tcTxStyle/>
      <a:tcStyle>
        <a:tcBdr/>
      </a:tcStyle>
    </a:band2V>
    <a:lastCol>
      <a:tcTxStyle/>
      <a:tcStyle>
        <a:tcBdr/>
      </a:tcStyle>
    </a:lastCol>
    <a:firstCol>
      <a:tcTxStyle/>
      <a:tcStyle>
        <a:tcBdr/>
      </a:tcStyle>
    </a:firstCol>
    <a:lastRow>
      <a:tcTxStyle/>
      <a:tcStyle>
        <a:tcBdr/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/>
      <a:tcStyle>
        <a:tcBdr/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2017" autoAdjust="0"/>
    <p:restoredTop sz="90512" autoAdjust="0"/>
  </p:normalViewPr>
  <p:slideViewPr>
    <p:cSldViewPr snapToGrid="0">
      <p:cViewPr varScale="1">
        <p:scale>
          <a:sx n="98" d="100"/>
          <a:sy n="98" d="100"/>
        </p:scale>
        <p:origin x="1186" y="82"/>
      </p:cViewPr>
      <p:guideLst>
        <p:guide orient="horz" pos="625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1.fntdata"/><Relationship Id="rId13" Type="http://schemas.openxmlformats.org/officeDocument/2006/relationships/font" Target="fonts/font6.fntdata"/><Relationship Id="rId18" Type="http://schemas.openxmlformats.org/officeDocument/2006/relationships/font" Target="fonts/font11.fntdata"/><Relationship Id="rId3" Type="http://schemas.openxmlformats.org/officeDocument/2006/relationships/slide" Target="slides/slide1.xml"/><Relationship Id="rId21" Type="http://schemas.openxmlformats.org/officeDocument/2006/relationships/viewProps" Target="viewProps.xml"/><Relationship Id="rId7" Type="http://schemas.openxmlformats.org/officeDocument/2006/relationships/notesMaster" Target="notesMasters/notesMaster1.xml"/><Relationship Id="rId12" Type="http://schemas.openxmlformats.org/officeDocument/2006/relationships/font" Target="fonts/font5.fntdata"/><Relationship Id="rId17" Type="http://schemas.openxmlformats.org/officeDocument/2006/relationships/font" Target="fonts/font10.fntdata"/><Relationship Id="rId25" Type="http://schemas.microsoft.com/office/2015/10/relationships/revisionInfo" Target="revisionInfo.xml"/><Relationship Id="rId2" Type="http://schemas.openxmlformats.org/officeDocument/2006/relationships/slideMaster" Target="slideMasters/slideMaster2.xml"/><Relationship Id="rId16" Type="http://schemas.openxmlformats.org/officeDocument/2006/relationships/font" Target="fonts/font9.fntdata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1" Type="http://schemas.openxmlformats.org/officeDocument/2006/relationships/font" Target="fonts/font4.fntdata"/><Relationship Id="rId24" Type="http://schemas.microsoft.com/office/2016/11/relationships/changesInfo" Target="changesInfos/changesInfo1.xml"/><Relationship Id="rId5" Type="http://schemas.openxmlformats.org/officeDocument/2006/relationships/slide" Target="slides/slide3.xml"/><Relationship Id="rId15" Type="http://schemas.openxmlformats.org/officeDocument/2006/relationships/font" Target="fonts/font8.fntdata"/><Relationship Id="rId23" Type="http://schemas.openxmlformats.org/officeDocument/2006/relationships/tableStyles" Target="tableStyles.xml"/><Relationship Id="rId10" Type="http://schemas.openxmlformats.org/officeDocument/2006/relationships/font" Target="fonts/font3.fntdata"/><Relationship Id="rId19" Type="http://schemas.openxmlformats.org/officeDocument/2006/relationships/font" Target="fonts/font12.fntdata"/><Relationship Id="rId4" Type="http://schemas.openxmlformats.org/officeDocument/2006/relationships/slide" Target="slides/slide2.xml"/><Relationship Id="rId9" Type="http://schemas.openxmlformats.org/officeDocument/2006/relationships/font" Target="fonts/font2.fntdata"/><Relationship Id="rId14" Type="http://schemas.openxmlformats.org/officeDocument/2006/relationships/font" Target="fonts/font7.fntdata"/><Relationship Id="rId22" Type="http://schemas.openxmlformats.org/officeDocument/2006/relationships/theme" Target="theme/theme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mir Alizadeh (Doctoral Researcher)" userId="S::2233939@brunel.ac.uk::1342facb-9595-4236-92e9-592b08afd82c" providerId="AD" clId="Web-{AD0F7ABB-7DAD-7804-B6F5-97C0FC03BAB6}"/>
    <pc:docChg chg="delSld modSection">
      <pc:chgData name="Amir Alizadeh (Doctoral Researcher)" userId="S::2233939@brunel.ac.uk::1342facb-9595-4236-92e9-592b08afd82c" providerId="AD" clId="Web-{AD0F7ABB-7DAD-7804-B6F5-97C0FC03BAB6}" dt="2026-01-07T16:54:56.715" v="0"/>
      <pc:docMkLst>
        <pc:docMk/>
      </pc:docMkLst>
      <pc:sldChg chg="del">
        <pc:chgData name="Amir Alizadeh (Doctoral Researcher)" userId="S::2233939@brunel.ac.uk::1342facb-9595-4236-92e9-592b08afd82c" providerId="AD" clId="Web-{AD0F7ABB-7DAD-7804-B6F5-97C0FC03BAB6}" dt="2026-01-07T16:54:56.715" v="0"/>
        <pc:sldMkLst>
          <pc:docMk/>
          <pc:sldMk cId="2563941736" sldId="1272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g708a6ee8a1_0_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5" name="Google Shape;55;g708a6ee8a1_0_4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381000" y="685800"/>
            <a:ext cx="6096000" cy="3429000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GB" dirty="0"/>
              <a:t>P3-p7 for gamma</a:t>
            </a:r>
          </a:p>
          <a:p>
            <a:r>
              <a:rPr lang="en-GB" dirty="0"/>
              <a:t>P8-13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45E6DA64-EAD8-4D27-969E-B025FBECE3FD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8631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Google Shape;9;p2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4139149" y="928938"/>
            <a:ext cx="4291500" cy="29610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52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4139125" y="3848863"/>
            <a:ext cx="4291500" cy="365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" name="Google Shape;20;p5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21" name="Google Shape;21;p5"/>
          <p:cNvSpPr txBox="1">
            <a:spLocks noGrp="1"/>
          </p:cNvSpPr>
          <p:nvPr>
            <p:ph type="subTitle" idx="1"/>
          </p:nvPr>
        </p:nvSpPr>
        <p:spPr>
          <a:xfrm flipH="1">
            <a:off x="5584135" y="2904500"/>
            <a:ext cx="1701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subTitle" idx="2"/>
          </p:nvPr>
        </p:nvSpPr>
        <p:spPr>
          <a:xfrm flipH="1">
            <a:off x="5079300" y="3229525"/>
            <a:ext cx="27111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subTitle" idx="3"/>
          </p:nvPr>
        </p:nvSpPr>
        <p:spPr>
          <a:xfrm flipH="1">
            <a:off x="1858635" y="2904500"/>
            <a:ext cx="1701300" cy="445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800" b="1">
                <a:latin typeface="Rajdhani"/>
                <a:ea typeface="Rajdhani"/>
                <a:cs typeface="Rajdhani"/>
                <a:sym typeface="Rajdhani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Font typeface="Rajdhani"/>
              <a:buNone/>
              <a:defRPr sz="1400" b="1"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ubTitle" idx="4"/>
          </p:nvPr>
        </p:nvSpPr>
        <p:spPr>
          <a:xfrm flipH="1">
            <a:off x="1353800" y="3229525"/>
            <a:ext cx="2711100" cy="7392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Font typeface="Fira Sans Condensed"/>
              <a:buNone/>
              <a:defRPr sz="11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25" name="Google Shape;25;p5"/>
          <p:cNvSpPr txBox="1">
            <a:spLocks noGrp="1"/>
          </p:cNvSpPr>
          <p:nvPr>
            <p:ph type="title"/>
          </p:nvPr>
        </p:nvSpPr>
        <p:spPr>
          <a:xfrm>
            <a:off x="720100" y="539500"/>
            <a:ext cx="77040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3000"/>
              <a:buNone/>
              <a:defRPr sz="30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oogle Shape;30;p7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1" name="Google Shape;31;p7"/>
          <p:cNvSpPr txBox="1">
            <a:spLocks noGrp="1"/>
          </p:cNvSpPr>
          <p:nvPr>
            <p:ph type="subTitle" idx="1"/>
          </p:nvPr>
        </p:nvSpPr>
        <p:spPr>
          <a:xfrm>
            <a:off x="2487163" y="1434600"/>
            <a:ext cx="33678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lvl="1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lvl="2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lvl="3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lvl="4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lvl="5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lvl="6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lvl="7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lvl="8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Font typeface="Fira Sans Condensed"/>
              <a:buNone/>
              <a:defRPr sz="2800"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  <p:sp>
        <p:nvSpPr>
          <p:cNvPr id="32" name="Google Shape;32;p7"/>
          <p:cNvSpPr txBox="1">
            <a:spLocks noGrp="1"/>
          </p:cNvSpPr>
          <p:nvPr>
            <p:ph type="title"/>
          </p:nvPr>
        </p:nvSpPr>
        <p:spPr>
          <a:xfrm>
            <a:off x="6530228" y="1434600"/>
            <a:ext cx="1967100" cy="22743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400"/>
              <a:buNone/>
              <a:defRPr sz="4800"/>
            </a:lvl1pPr>
            <a:lvl2pPr lvl="1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2pPr>
            <a:lvl3pPr lvl="2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3pPr>
            <a:lvl4pPr lvl="3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4pPr>
            <a:lvl5pPr lvl="4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5pPr>
            <a:lvl6pPr lvl="5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6pPr>
            <a:lvl7pPr lvl="6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7pPr>
            <a:lvl8pPr lvl="7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8pPr>
            <a:lvl9pPr lvl="8" rtl="0">
              <a:spcBef>
                <a:spcPts val="0"/>
              </a:spcBef>
              <a:spcAft>
                <a:spcPts val="0"/>
              </a:spcAft>
              <a:buSzPts val="1400"/>
              <a:buNone/>
              <a:defRPr sz="14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" name="Google Shape;34;p8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5" name="Google Shape;35;p8"/>
          <p:cNvSpPr txBox="1">
            <a:spLocks noGrp="1"/>
          </p:cNvSpPr>
          <p:nvPr>
            <p:ph type="title"/>
          </p:nvPr>
        </p:nvSpPr>
        <p:spPr>
          <a:xfrm>
            <a:off x="2422250" y="1418700"/>
            <a:ext cx="4299600" cy="2306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72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p9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38" name="Google Shape;38;p9"/>
          <p:cNvSpPr txBox="1">
            <a:spLocks noGrp="1"/>
          </p:cNvSpPr>
          <p:nvPr>
            <p:ph type="title"/>
          </p:nvPr>
        </p:nvSpPr>
        <p:spPr>
          <a:xfrm>
            <a:off x="522825" y="971850"/>
            <a:ext cx="3787800" cy="3199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r">
              <a:spcBef>
                <a:spcPts val="0"/>
              </a:spcBef>
              <a:spcAft>
                <a:spcPts val="0"/>
              </a:spcAft>
              <a:buSzPts val="4200"/>
              <a:buNone/>
              <a:defRPr sz="60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subTitle" idx="1"/>
          </p:nvPr>
        </p:nvSpPr>
        <p:spPr>
          <a:xfrm>
            <a:off x="4799950" y="1954200"/>
            <a:ext cx="19401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1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title" idx="2" hasCustomPrompt="1"/>
          </p:nvPr>
        </p:nvSpPr>
        <p:spPr>
          <a:xfrm>
            <a:off x="4849170" y="1001125"/>
            <a:ext cx="2026800" cy="1814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rtl="0">
              <a:spcBef>
                <a:spcPts val="0"/>
              </a:spcBef>
              <a:spcAft>
                <a:spcPts val="0"/>
              </a:spcAft>
              <a:buSzPts val="12000"/>
              <a:buNone/>
              <a:defRPr sz="140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Google Shape;42;p10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3" name="Google Shape;43;p10"/>
          <p:cNvSpPr txBox="1">
            <a:spLocks noGrp="1"/>
          </p:cNvSpPr>
          <p:nvPr>
            <p:ph type="title"/>
          </p:nvPr>
        </p:nvSpPr>
        <p:spPr>
          <a:xfrm>
            <a:off x="720100" y="1706850"/>
            <a:ext cx="2759700" cy="1729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lvl="0" algn="r" rtl="0">
              <a:spcBef>
                <a:spcPts val="0"/>
              </a:spcBef>
              <a:spcAft>
                <a:spcPts val="0"/>
              </a:spcAft>
              <a:buSzPts val="1800"/>
              <a:buNone/>
              <a:defRPr sz="4500"/>
            </a:lvl1pPr>
            <a:lvl2pPr lvl="1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2pPr>
            <a:lvl3pPr lvl="2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3pPr>
            <a:lvl4pPr lvl="3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4pPr>
            <a:lvl5pPr lvl="4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5pPr>
            <a:lvl6pPr lvl="5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6pPr>
            <a:lvl7pPr lvl="6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7pPr>
            <a:lvl8pPr lvl="7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8pPr>
            <a:lvl9pPr lvl="8" algn="ctr" rtl="0">
              <a:spcBef>
                <a:spcPts val="0"/>
              </a:spcBef>
              <a:spcAft>
                <a:spcPts val="0"/>
              </a:spcAft>
              <a:buSzPts val="1800"/>
              <a:buNone/>
              <a:defRPr sz="1800"/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5" name="Google Shape;45;p11"/>
          <p:cNvPicPr preferRelativeResize="0"/>
          <p:nvPr/>
        </p:nvPicPr>
        <p:blipFill rotWithShape="1">
          <a:blip r:embed="rId2">
            <a:alphaModFix/>
          </a:blip>
          <a:srcRect/>
          <a:stretch/>
        </p:blipFill>
        <p:spPr>
          <a:xfrm>
            <a:off x="0" y="1339"/>
            <a:ext cx="9143998" cy="5140822"/>
          </a:xfrm>
          <a:prstGeom prst="rect">
            <a:avLst/>
          </a:prstGeom>
          <a:noFill/>
          <a:ln>
            <a:noFill/>
          </a:ln>
        </p:spPr>
      </p:pic>
      <p:sp>
        <p:nvSpPr>
          <p:cNvPr id="46" name="Google Shape;46;p11"/>
          <p:cNvSpPr txBox="1">
            <a:spLocks noGrp="1"/>
          </p:cNvSpPr>
          <p:nvPr>
            <p:ph type="title" hasCustomPrompt="1"/>
          </p:nvPr>
        </p:nvSpPr>
        <p:spPr>
          <a:xfrm>
            <a:off x="311700" y="2062500"/>
            <a:ext cx="8520600" cy="1110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72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7" name="Google Shape;47;p11"/>
          <p:cNvSpPr txBox="1">
            <a:spLocks noGrp="1"/>
          </p:cNvSpPr>
          <p:nvPr>
            <p:ph type="body" idx="1"/>
          </p:nvPr>
        </p:nvSpPr>
        <p:spPr>
          <a:xfrm>
            <a:off x="311700" y="3255700"/>
            <a:ext cx="8520600" cy="515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 sz="1400">
                <a:latin typeface="Fira Sans Condensed"/>
                <a:ea typeface="Fira Sans Condensed"/>
                <a:cs typeface="Fira Sans Condensed"/>
                <a:sym typeface="Fira Sans Condensed"/>
              </a:defRPr>
            </a:lvl1pPr>
            <a:lvl2pPr marL="914400" lvl="1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2pPr>
            <a:lvl3pPr marL="1371600" lvl="2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3pPr>
            <a:lvl4pPr marL="1828800" lvl="3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4pPr>
            <a:lvl5pPr marL="2286000" lvl="4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5pPr>
            <a:lvl6pPr marL="2743200" lvl="5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6pPr>
            <a:lvl7pPr marL="3200400" lvl="6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●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7pPr>
            <a:lvl8pPr marL="3657600" lvl="7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○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8pPr>
            <a:lvl9pPr marL="4114800" lvl="8" indent="-304800" algn="ctr">
              <a:spcBef>
                <a:spcPts val="0"/>
              </a:spcBef>
              <a:spcAft>
                <a:spcPts val="0"/>
              </a:spcAft>
              <a:buSzPts val="1200"/>
              <a:buFont typeface="Fira Sans Condensed"/>
              <a:buChar char="■"/>
              <a:defRPr>
                <a:latin typeface="Fira Sans Condensed"/>
                <a:ea typeface="Fira Sans Condensed"/>
                <a:cs typeface="Fira Sans Condensed"/>
                <a:sym typeface="Fira Sans Condensed"/>
              </a:defRPr>
            </a:lvl9pPr>
          </a:lstStyle>
          <a:p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57990BD-FF62-43F7-8C04-D4D0059D6B7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841772"/>
            <a:ext cx="6858000" cy="1790700"/>
          </a:xfrm>
        </p:spPr>
        <p:txBody>
          <a:bodyPr anchor="b"/>
          <a:lstStyle>
            <a:lvl1pPr algn="ctr"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49C5066-5F45-4E58-896F-401260671150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2701528"/>
            <a:ext cx="6858000" cy="124182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AF67C94-53A0-43BF-9764-26252493BA0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2B8F-9FD9-4017-B835-C9C54D01A52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D04A116-63FF-4282-B2D9-FEA44E66E7D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B6A08FE-5823-4653-AAD7-A8C4039CD7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161E8-4131-42A2-BA5C-111048218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41699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757695-4290-495B-90EB-6ABDFB33CD2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DF1C067-A201-4C6E-8001-118180B3897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A9AE754-BB9B-4E72-829C-A1324FC81C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2B8F-9FD9-4017-B835-C9C54D01A52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C345F2-0289-4AD9-81C1-4B2BF8260C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1B042AF-9A73-49CE-887B-A8262459FDE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161E8-4131-42A2-BA5C-111048218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4817802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8E8C10A-FA44-4D57-9838-7E0802ED5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282304"/>
            <a:ext cx="7886700" cy="2139553"/>
          </a:xfrm>
        </p:spPr>
        <p:txBody>
          <a:bodyPr anchor="b"/>
          <a:lstStyle>
            <a:lvl1pPr>
              <a:defRPr sz="45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0E02120-5344-44F6-9721-B5B69AC163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3442098"/>
            <a:ext cx="7886700" cy="1125140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FE911DC-2397-486A-9F23-472EEFA537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2B8F-9FD9-4017-B835-C9C54D01A52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374BF90-7AFC-4678-8A8F-6B5EDD0AA3E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77B68B-DACA-4BC7-8F21-24941FCED3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161E8-4131-42A2-BA5C-111048218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05155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667A03-5DEF-43E0-836E-97D600E792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29184BE-F3DA-493A-83A2-CDEF1912122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286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42E6D17-CF8B-4494-AFBF-04CC901FD0A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29150" y="1369219"/>
            <a:ext cx="3886200" cy="3263504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2BCAA6F-FF14-4DF8-A116-C1882DD901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2B8F-9FD9-4017-B835-C9C54D01A52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49F4B74-1799-4657-AD4C-EAAFE2ACFD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79D4EB-EC33-46F4-99E3-D1E9EDDB18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161E8-4131-42A2-BA5C-111048218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8666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495B51-D144-4ACB-B731-AE751FBB105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273844"/>
            <a:ext cx="7886700" cy="994172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C2D053-C8C3-47CA-AB32-2401C2681A5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9842" y="1260872"/>
            <a:ext cx="3868340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6A4FF70-22DF-477F-BB16-319A9B02E2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29842" y="1878806"/>
            <a:ext cx="3868340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DD293E7-FB5A-4C44-8FD7-B1F2BC31834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260872"/>
            <a:ext cx="3887391" cy="617934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A8281D0-82AD-4FE9-B664-03085DA688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1878806"/>
            <a:ext cx="3887391" cy="27634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5D726E7-9354-4506-B04A-7010443F5BB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2B8F-9FD9-4017-B835-C9C54D01A52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152923F-CABA-43C2-8D95-F68190F47F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9405B2E-A2A4-49D1-9103-E88FE69F18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161E8-4131-42A2-BA5C-111048218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8764675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8D7E2F-FA95-46E0-8003-088328D876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6A2AD99-E8EF-4780-9C2E-8835991E8B5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2B8F-9FD9-4017-B835-C9C54D01A52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DDE8DB7-A2BF-455D-965C-225E219E25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7831F53-A64D-4248-AB29-08A68013CF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161E8-4131-42A2-BA5C-111048218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32723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35309C21-AC62-455D-9C1C-DB29187195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2B8F-9FD9-4017-B835-C9C54D01A52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6A0901F-427A-42AB-9E7A-0A31E0B6F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68C7BD2-ED4F-4926-BB90-AFF4BC2704C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161E8-4131-42A2-BA5C-111048218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2581801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3DFA55-F2DE-4AA2-B804-3C05686E22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7E85796-E0D0-4679-AA7C-388F8369009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7FE9E90-05EF-4462-986C-BC04E792B5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69F7648-7820-4B1B-B8FF-3B27F8DAB9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2B8F-9FD9-4017-B835-C9C54D01A52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958B2B5-A412-4F02-A527-F02891F1E2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88D21A5-84DB-4447-9AAA-6917B15F5B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161E8-4131-42A2-BA5C-111048218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4505734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4883E5B-FCF5-440B-A5AE-AE6F77BA84B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9841" y="342900"/>
            <a:ext cx="2949178" cy="1200150"/>
          </a:xfrm>
        </p:spPr>
        <p:txBody>
          <a:bodyPr anchor="b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105F455-32FD-4B1D-BD78-13FFC96D17D5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391" y="740569"/>
            <a:ext cx="4629150" cy="365521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BA0506FC-3FB1-45BF-B00E-EFC92D2AF94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29841" y="1543050"/>
            <a:ext cx="2949178" cy="2858691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374378F-4472-4CFB-A627-F4A7128228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2B8F-9FD9-4017-B835-C9C54D01A52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9E5959-AAB6-49CA-A107-C362D3D883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2636FB0-1B48-465E-BCC2-7F1C1BEB82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161E8-4131-42A2-BA5C-111048218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5513508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6E240A9-17D2-444C-9C53-482860EE8E1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C3AF2AAF-7A34-4783-BE5C-B87EB0CAFD2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22EEA18-D04A-4BBE-B7FD-016C8FB5BE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2B8F-9FD9-4017-B835-C9C54D01A52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4083EA7-62D0-4EA8-9271-719E549FA77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DC99B42-A98D-405E-966C-8672D87F07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161E8-4131-42A2-BA5C-111048218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42278684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5AC34C0-A734-4D7F-BACB-124BC9782E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43675" y="273844"/>
            <a:ext cx="1971675" cy="4358879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D1CEB3-C069-4790-88D0-472E356F180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28650" y="273844"/>
            <a:ext cx="5800725" cy="435887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223D22C-9498-4307-9E2B-C9D1E0F990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4A22B8F-9FD9-4017-B835-C9C54D01A52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74E01D8-EAB0-4D77-A549-899652E98F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E656BC-D385-4CAF-9CD6-14A6C5CEF01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6161E8-4131-42A2-BA5C-111048218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48032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6.xml"/><Relationship Id="rId3" Type="http://schemas.openxmlformats.org/officeDocument/2006/relationships/slideLayout" Target="../slideLayouts/slideLayout11.xml"/><Relationship Id="rId7" Type="http://schemas.openxmlformats.org/officeDocument/2006/relationships/slideLayout" Target="../slideLayouts/slideLayout15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10.xml"/><Relationship Id="rId1" Type="http://schemas.openxmlformats.org/officeDocument/2006/relationships/slideLayout" Target="../slideLayouts/slideLayout9.xml"/><Relationship Id="rId6" Type="http://schemas.openxmlformats.org/officeDocument/2006/relationships/slideLayout" Target="../slideLayouts/slideLayout14.xml"/><Relationship Id="rId11" Type="http://schemas.openxmlformats.org/officeDocument/2006/relationships/slideLayout" Target="../slideLayouts/slideLayout19.xml"/><Relationship Id="rId5" Type="http://schemas.openxmlformats.org/officeDocument/2006/relationships/slideLayout" Target="../slideLayouts/slideLayout13.xml"/><Relationship Id="rId10" Type="http://schemas.openxmlformats.org/officeDocument/2006/relationships/slideLayout" Target="../slideLayouts/slideLayout18.xml"/><Relationship Id="rId4" Type="http://schemas.openxmlformats.org/officeDocument/2006/relationships/slideLayout" Target="../slideLayouts/slideLayout12.xml"/><Relationship Id="rId9" Type="http://schemas.openxmlformats.org/officeDocument/2006/relationships/slideLayout" Target="../slideLayouts/slideLayout17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accent2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713225" y="539500"/>
            <a:ext cx="77175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2800"/>
              <a:buFont typeface="Rajdhani"/>
              <a:buNone/>
              <a:defRPr sz="2800" b="1">
                <a:solidFill>
                  <a:schemeClr val="lt2"/>
                </a:solidFill>
                <a:latin typeface="Rajdhani"/>
                <a:ea typeface="Rajdhani"/>
                <a:cs typeface="Rajdhani"/>
                <a:sym typeface="Rajdhani"/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713225" y="1152475"/>
            <a:ext cx="77175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1pPr>
            <a:lvl2pPr marL="914400" lvl="1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2pPr>
            <a:lvl3pPr marL="1371600" lvl="2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3pPr>
            <a:lvl4pPr marL="1828800" lvl="3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4pPr>
            <a:lvl5pPr marL="2286000" lvl="4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5pPr>
            <a:lvl6pPr marL="2743200" lvl="5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6pPr>
            <a:lvl7pPr marL="3200400" lvl="6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●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7pPr>
            <a:lvl8pPr marL="3657600" lvl="7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○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8pPr>
            <a:lvl9pPr marL="4114800" lvl="8" indent="-3048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2"/>
              </a:buClr>
              <a:buSzPts val="1200"/>
              <a:buFont typeface="Fira Sans Condensed Light"/>
              <a:buChar char="■"/>
              <a:defRPr sz="1200">
                <a:solidFill>
                  <a:schemeClr val="lt2"/>
                </a:solidFill>
                <a:latin typeface="Fira Sans Condensed Light"/>
                <a:ea typeface="Fira Sans Condensed Light"/>
                <a:cs typeface="Fira Sans Condensed Light"/>
                <a:sym typeface="Fira Sans Condensed Light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51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hf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  <p:extLst>
    <p:ext uri="{27BBF7A9-308A-43DC-89C8-2F10F3537804}">
      <p15:sldGuideLst xmlns:p15="http://schemas.microsoft.com/office/powerpoint/2012/main">
        <p15:guide id="1" pos="449">
          <p15:clr>
            <a:srgbClr val="EA4335"/>
          </p15:clr>
        </p15:guide>
        <p15:guide id="2" pos="2880">
          <p15:clr>
            <a:srgbClr val="EA4335"/>
          </p15:clr>
        </p15:guide>
        <p15:guide id="3" pos="5311">
          <p15:clr>
            <a:srgbClr val="EA4335"/>
          </p15:clr>
        </p15:guide>
        <p15:guide id="4" orient="horz" pos="340">
          <p15:clr>
            <a:srgbClr val="EA4335"/>
          </p15:clr>
        </p15:guide>
        <p15:guide id="5" orient="horz" pos="2903">
          <p15:clr>
            <a:srgbClr val="EA4335"/>
          </p15:clr>
        </p15:guide>
        <p15:guide id="6" orient="horz" pos="1620">
          <p15:clr>
            <a:srgbClr val="EA4335"/>
          </p15:clr>
        </p15:guide>
      </p15:sldGuideLst>
    </p:ext>
  </p:extLst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69893A0-3E61-48D7-AF38-EBBD16745E2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8650" y="273844"/>
            <a:ext cx="7886700" cy="99417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3B3D31E-0BBC-4604-9B16-823F8AEB0B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8650" y="1369219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AB8FDE5-BAB0-4DFD-A35C-C0E69687937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4A22B8F-9FD9-4017-B835-C9C54D01A52B}" type="datetimeFigureOut">
              <a:rPr lang="en-US" smtClean="0"/>
              <a:t>1/15/2026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DACC056-9386-4470-A12D-FE7E8EE56C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4767263"/>
            <a:ext cx="30861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B60D82D-D2F0-480E-9BA3-C559A309A64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4767263"/>
            <a:ext cx="20574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6161E8-4131-42A2-BA5C-11104821867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78233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21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59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88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17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46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74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3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2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13" Type="http://schemas.openxmlformats.org/officeDocument/2006/relationships/image" Target="../media/image37.png"/><Relationship Id="rId18" Type="http://schemas.openxmlformats.org/officeDocument/2006/relationships/image" Target="../media/image50.png"/><Relationship Id="rId3" Type="http://schemas.openxmlformats.org/officeDocument/2006/relationships/image" Target="../media/image7.png"/><Relationship Id="rId21" Type="http://schemas.openxmlformats.org/officeDocument/2006/relationships/image" Target="../media/image53.png"/><Relationship Id="rId7" Type="http://schemas.openxmlformats.org/officeDocument/2006/relationships/image" Target="../media/image19.png"/><Relationship Id="rId12" Type="http://schemas.openxmlformats.org/officeDocument/2006/relationships/image" Target="../media/image49.png"/><Relationship Id="rId17" Type="http://schemas.openxmlformats.org/officeDocument/2006/relationships/image" Target="../media/image41.png"/><Relationship Id="rId2" Type="http://schemas.openxmlformats.org/officeDocument/2006/relationships/notesSlide" Target="../notesSlides/notesSlide2.xml"/><Relationship Id="rId16" Type="http://schemas.openxmlformats.org/officeDocument/2006/relationships/image" Target="../media/image40.png"/><Relationship Id="rId20" Type="http://schemas.openxmlformats.org/officeDocument/2006/relationships/image" Target="../media/image52.png"/><Relationship Id="rId1" Type="http://schemas.openxmlformats.org/officeDocument/2006/relationships/slideLayout" Target="../slideLayouts/slideLayout9.xml"/><Relationship Id="rId11" Type="http://schemas.openxmlformats.org/officeDocument/2006/relationships/image" Target="../media/image35.png"/><Relationship Id="rId5" Type="http://schemas.openxmlformats.org/officeDocument/2006/relationships/image" Target="../media/image47.png"/><Relationship Id="rId15" Type="http://schemas.openxmlformats.org/officeDocument/2006/relationships/image" Target="../media/image11.png"/><Relationship Id="rId23" Type="http://schemas.openxmlformats.org/officeDocument/2006/relationships/image" Target="../media/image12.png"/><Relationship Id="rId10" Type="http://schemas.openxmlformats.org/officeDocument/2006/relationships/image" Target="../media/image10.png"/><Relationship Id="rId19" Type="http://schemas.openxmlformats.org/officeDocument/2006/relationships/image" Target="../media/image51.png"/><Relationship Id="rId4" Type="http://schemas.openxmlformats.org/officeDocument/2006/relationships/image" Target="../media/image9.png"/><Relationship Id="rId9" Type="http://schemas.openxmlformats.org/officeDocument/2006/relationships/image" Target="../media/image8.png"/><Relationship Id="rId14" Type="http://schemas.openxmlformats.org/officeDocument/2006/relationships/image" Target="../media/image38.png"/><Relationship Id="rId22" Type="http://schemas.openxmlformats.org/officeDocument/2006/relationships/image" Target="../media/image54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5"/>
          <p:cNvSpPr txBox="1">
            <a:spLocks noGrp="1"/>
          </p:cNvSpPr>
          <p:nvPr>
            <p:ph type="ctrTitle"/>
          </p:nvPr>
        </p:nvSpPr>
        <p:spPr>
          <a:xfrm>
            <a:off x="751401" y="1403131"/>
            <a:ext cx="6059302" cy="1168619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Autofit/>
          </a:bodyPr>
          <a:lstStyle/>
          <a:p>
            <a:pPr lvl="0"/>
            <a:r>
              <a:rPr lang="en-US" sz="3200" dirty="0"/>
              <a:t>Debugging the backprop of the PEML-KWN model</a:t>
            </a:r>
          </a:p>
        </p:txBody>
      </p:sp>
      <p:sp>
        <p:nvSpPr>
          <p:cNvPr id="58" name="Google Shape;58;p15"/>
          <p:cNvSpPr txBox="1">
            <a:spLocks noGrp="1"/>
          </p:cNvSpPr>
          <p:nvPr>
            <p:ph type="subTitle" idx="1"/>
          </p:nvPr>
        </p:nvSpPr>
        <p:spPr>
          <a:xfrm>
            <a:off x="831520" y="2704796"/>
            <a:ext cx="7480959" cy="881811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Amir Alizadeh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Supervised by Hamid Assadi</a:t>
            </a: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GB" dirty="0"/>
              <a:t>13/1/2025</a:t>
            </a:r>
            <a:endParaRPr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77D65792-00B4-4156-8EA5-2EDB78501F2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79214" y="4266158"/>
            <a:ext cx="1579214" cy="877341"/>
          </a:xfrm>
          <a:prstGeom prst="rect">
            <a:avLst/>
          </a:prstGeom>
        </p:spPr>
      </p:pic>
      <p:pic>
        <p:nvPicPr>
          <p:cNvPr id="6" name="Picture 2" descr="Brunel University London Logo Vector - (.SVG + .PNG) - Tukuz.Com">
            <a:extLst>
              <a:ext uri="{FF2B5EF4-FFF2-40B4-BE49-F238E27FC236}">
                <a16:creationId xmlns:a16="http://schemas.microsoft.com/office/drawing/2014/main" id="{F5CDF113-A694-403D-BEB8-E17F3CE4254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0" y="4266159"/>
            <a:ext cx="1579214" cy="8773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7" name="Straight Arrow Connector 16">
            <a:extLst>
              <a:ext uri="{FF2B5EF4-FFF2-40B4-BE49-F238E27FC236}">
                <a16:creationId xmlns:a16="http://schemas.microsoft.com/office/drawing/2014/main" id="{64BBFC28-3D87-4175-B2FC-AD7798710C00}"/>
              </a:ext>
            </a:extLst>
          </p:cNvPr>
          <p:cNvCxnSpPr>
            <a:cxnSpLocks/>
            <a:stCxn id="64" idx="0"/>
            <a:endCxn id="66" idx="2"/>
          </p:cNvCxnSpPr>
          <p:nvPr/>
        </p:nvCxnSpPr>
        <p:spPr>
          <a:xfrm flipV="1">
            <a:off x="7277253" y="3625481"/>
            <a:ext cx="724561" cy="1137245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D1DD156A-8394-4256-996D-4CB3F39D3994}"/>
              </a:ext>
            </a:extLst>
          </p:cNvPr>
          <p:cNvCxnSpPr>
            <a:cxnSpLocks/>
            <a:stCxn id="52" idx="0"/>
            <a:endCxn id="62" idx="2"/>
          </p:cNvCxnSpPr>
          <p:nvPr/>
        </p:nvCxnSpPr>
        <p:spPr>
          <a:xfrm flipH="1" flipV="1">
            <a:off x="1173470" y="3402449"/>
            <a:ext cx="326004" cy="862651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Straight Arrow Connector 21">
            <a:extLst>
              <a:ext uri="{FF2B5EF4-FFF2-40B4-BE49-F238E27FC236}">
                <a16:creationId xmlns:a16="http://schemas.microsoft.com/office/drawing/2014/main" id="{737B9957-C04C-4FB6-90C0-6E1479D71A62}"/>
              </a:ext>
            </a:extLst>
          </p:cNvPr>
          <p:cNvCxnSpPr>
            <a:cxnSpLocks/>
            <a:stCxn id="49" idx="0"/>
            <a:endCxn id="50" idx="2"/>
          </p:cNvCxnSpPr>
          <p:nvPr/>
        </p:nvCxnSpPr>
        <p:spPr>
          <a:xfrm flipH="1" flipV="1">
            <a:off x="3313596" y="3496487"/>
            <a:ext cx="585438" cy="1177393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F892532A-076B-4389-A5D2-6FAA208FDA4C}"/>
              </a:ext>
            </a:extLst>
          </p:cNvPr>
          <p:cNvCxnSpPr>
            <a:cxnSpLocks/>
            <a:stCxn id="53" idx="0"/>
            <a:endCxn id="55" idx="2"/>
          </p:cNvCxnSpPr>
          <p:nvPr/>
        </p:nvCxnSpPr>
        <p:spPr>
          <a:xfrm flipV="1">
            <a:off x="5086707" y="2551304"/>
            <a:ext cx="3059048" cy="1228900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Straight Arrow Connector 24">
            <a:extLst>
              <a:ext uri="{FF2B5EF4-FFF2-40B4-BE49-F238E27FC236}">
                <a16:creationId xmlns:a16="http://schemas.microsoft.com/office/drawing/2014/main" id="{81911D2D-6B92-47C5-8359-1A449CC91851}"/>
              </a:ext>
            </a:extLst>
          </p:cNvPr>
          <p:cNvCxnSpPr>
            <a:cxnSpLocks/>
            <a:stCxn id="48" idx="0"/>
            <a:endCxn id="55" idx="2"/>
          </p:cNvCxnSpPr>
          <p:nvPr/>
        </p:nvCxnSpPr>
        <p:spPr>
          <a:xfrm flipV="1">
            <a:off x="6927704" y="2551304"/>
            <a:ext cx="1218051" cy="1249961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22B4A2FF-85B9-4877-A969-48525EAE7F36}"/>
              </a:ext>
            </a:extLst>
          </p:cNvPr>
          <p:cNvCxnSpPr>
            <a:cxnSpLocks/>
            <a:stCxn id="62" idx="3"/>
            <a:endCxn id="58" idx="2"/>
          </p:cNvCxnSpPr>
          <p:nvPr/>
        </p:nvCxnSpPr>
        <p:spPr>
          <a:xfrm flipV="1">
            <a:off x="2088843" y="2211606"/>
            <a:ext cx="2563377" cy="823467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29FFF6FA-1005-49BF-8010-B662CE2AC117}"/>
              </a:ext>
            </a:extLst>
          </p:cNvPr>
          <p:cNvCxnSpPr>
            <a:cxnSpLocks/>
            <a:stCxn id="50" idx="0"/>
            <a:endCxn id="58" idx="2"/>
          </p:cNvCxnSpPr>
          <p:nvPr/>
        </p:nvCxnSpPr>
        <p:spPr>
          <a:xfrm flipV="1">
            <a:off x="3313596" y="2211606"/>
            <a:ext cx="1338624" cy="563914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849B0BB2-F278-4AE5-8CE0-2D6B622FEE22}"/>
              </a:ext>
            </a:extLst>
          </p:cNvPr>
          <p:cNvCxnSpPr>
            <a:cxnSpLocks/>
            <a:stCxn id="55" idx="0"/>
            <a:endCxn id="59" idx="2"/>
          </p:cNvCxnSpPr>
          <p:nvPr/>
        </p:nvCxnSpPr>
        <p:spPr>
          <a:xfrm flipH="1" flipV="1">
            <a:off x="7365686" y="1857772"/>
            <a:ext cx="780069" cy="216798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FEFE6A1-C5D4-4315-A19C-A85905684BA5}"/>
              </a:ext>
            </a:extLst>
          </p:cNvPr>
          <p:cNvCxnSpPr>
            <a:cxnSpLocks/>
            <a:stCxn id="58" idx="3"/>
            <a:endCxn id="59" idx="1"/>
          </p:cNvCxnSpPr>
          <p:nvPr/>
        </p:nvCxnSpPr>
        <p:spPr>
          <a:xfrm flipV="1">
            <a:off x="5104082" y="1724242"/>
            <a:ext cx="834453" cy="348865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004F55C-BED7-4D62-A094-7ACE27B96D76}"/>
                  </a:ext>
                </a:extLst>
              </p:cNvPr>
              <p:cNvSpPr txBox="1"/>
              <p:nvPr/>
            </p:nvSpPr>
            <p:spPr>
              <a:xfrm>
                <a:off x="4294777" y="1349223"/>
                <a:ext cx="714365" cy="25391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𝑉𝐹</m:t>
                          </m:r>
                        </m:e>
                        <m: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𝑡𝑜𝑡𝑎𝑙</m:t>
                          </m:r>
                        </m:sub>
                      </m:sSub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31" name="TextBox 30">
                <a:extLst>
                  <a:ext uri="{FF2B5EF4-FFF2-40B4-BE49-F238E27FC236}">
                    <a16:creationId xmlns:a16="http://schemas.microsoft.com/office/drawing/2014/main" id="{4004F55C-BED7-4D62-A094-7ACE27B96D7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4777" y="1349223"/>
                <a:ext cx="714365" cy="253916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  <a:ln w="38100"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76ABA660-47A4-4A6D-A714-34612F52FD3D}"/>
              </a:ext>
            </a:extLst>
          </p:cNvPr>
          <p:cNvCxnSpPr>
            <a:cxnSpLocks/>
            <a:stCxn id="58" idx="0"/>
            <a:endCxn id="31" idx="2"/>
          </p:cNvCxnSpPr>
          <p:nvPr/>
        </p:nvCxnSpPr>
        <p:spPr>
          <a:xfrm flipH="1" flipV="1">
            <a:off x="4651960" y="1603139"/>
            <a:ext cx="260" cy="331468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F70B716F-664D-499A-84E0-F72389722131}"/>
              </a:ext>
            </a:extLst>
          </p:cNvPr>
          <p:cNvCxnSpPr>
            <a:cxnSpLocks/>
            <a:stCxn id="59" idx="0"/>
            <a:endCxn id="31" idx="3"/>
          </p:cNvCxnSpPr>
          <p:nvPr/>
        </p:nvCxnSpPr>
        <p:spPr>
          <a:xfrm flipH="1" flipV="1">
            <a:off x="5009142" y="1476181"/>
            <a:ext cx="2356544" cy="114530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F8636EA6-B6E9-4181-82B3-C5CE88565848}"/>
              </a:ext>
            </a:extLst>
          </p:cNvPr>
          <p:cNvCxnSpPr>
            <a:cxnSpLocks/>
            <a:stCxn id="31" idx="1"/>
            <a:endCxn id="57" idx="3"/>
          </p:cNvCxnSpPr>
          <p:nvPr/>
        </p:nvCxnSpPr>
        <p:spPr>
          <a:xfrm flipH="1">
            <a:off x="2806395" y="1476181"/>
            <a:ext cx="1488382" cy="579033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22A59078-EC70-45C8-8CB7-EA56AFF42F20}"/>
              </a:ext>
            </a:extLst>
          </p:cNvPr>
          <p:cNvCxnSpPr>
            <a:cxnSpLocks/>
            <a:stCxn id="57" idx="2"/>
            <a:endCxn id="53" idx="1"/>
          </p:cNvCxnSpPr>
          <p:nvPr/>
        </p:nvCxnSpPr>
        <p:spPr>
          <a:xfrm>
            <a:off x="2480386" y="2192559"/>
            <a:ext cx="1588137" cy="1790329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Straight Arrow Connector 36">
            <a:extLst>
              <a:ext uri="{FF2B5EF4-FFF2-40B4-BE49-F238E27FC236}">
                <a16:creationId xmlns:a16="http://schemas.microsoft.com/office/drawing/2014/main" id="{6E31391B-9668-4932-BF33-E47F49EF76CF}"/>
              </a:ext>
            </a:extLst>
          </p:cNvPr>
          <p:cNvCxnSpPr>
            <a:cxnSpLocks/>
            <a:stCxn id="57" idx="2"/>
            <a:endCxn id="49" idx="0"/>
          </p:cNvCxnSpPr>
          <p:nvPr/>
        </p:nvCxnSpPr>
        <p:spPr>
          <a:xfrm>
            <a:off x="2480386" y="2192559"/>
            <a:ext cx="1418648" cy="2481321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27C5DD1E-5DDE-44C9-9707-C6B7E33EF0D3}"/>
              </a:ext>
            </a:extLst>
          </p:cNvPr>
          <p:cNvCxnSpPr>
            <a:cxnSpLocks/>
            <a:stCxn id="57" idx="2"/>
            <a:endCxn id="52" idx="0"/>
          </p:cNvCxnSpPr>
          <p:nvPr/>
        </p:nvCxnSpPr>
        <p:spPr>
          <a:xfrm flipH="1">
            <a:off x="1499474" y="2192559"/>
            <a:ext cx="980912" cy="2072541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Straight Arrow Connector 39">
            <a:extLst>
              <a:ext uri="{FF2B5EF4-FFF2-40B4-BE49-F238E27FC236}">
                <a16:creationId xmlns:a16="http://schemas.microsoft.com/office/drawing/2014/main" id="{E3075E6D-78EB-4B02-A61B-C27A0635E5C1}"/>
              </a:ext>
            </a:extLst>
          </p:cNvPr>
          <p:cNvCxnSpPr>
            <a:cxnSpLocks/>
            <a:stCxn id="49" idx="0"/>
            <a:endCxn id="48" idx="2"/>
          </p:cNvCxnSpPr>
          <p:nvPr/>
        </p:nvCxnSpPr>
        <p:spPr>
          <a:xfrm flipV="1">
            <a:off x="3899034" y="4226190"/>
            <a:ext cx="3028670" cy="447690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77828484-B055-4432-BECB-007A6D0C4A30}"/>
              </a:ext>
            </a:extLst>
          </p:cNvPr>
          <p:cNvCxnSpPr>
            <a:cxnSpLocks/>
            <a:stCxn id="58" idx="3"/>
            <a:endCxn id="48" idx="0"/>
          </p:cNvCxnSpPr>
          <p:nvPr/>
        </p:nvCxnSpPr>
        <p:spPr>
          <a:xfrm>
            <a:off x="5104082" y="2073107"/>
            <a:ext cx="1823622" cy="1728158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Straight Arrow Connector 42">
            <a:extLst>
              <a:ext uri="{FF2B5EF4-FFF2-40B4-BE49-F238E27FC236}">
                <a16:creationId xmlns:a16="http://schemas.microsoft.com/office/drawing/2014/main" id="{9F8F69E8-C06E-44F8-A663-8A3648BD017C}"/>
              </a:ext>
            </a:extLst>
          </p:cNvPr>
          <p:cNvCxnSpPr>
            <a:cxnSpLocks/>
            <a:stCxn id="64" idx="0"/>
            <a:endCxn id="53" idx="2"/>
          </p:cNvCxnSpPr>
          <p:nvPr/>
        </p:nvCxnSpPr>
        <p:spPr>
          <a:xfrm flipH="1" flipV="1">
            <a:off x="5086707" y="4185571"/>
            <a:ext cx="2190546" cy="577155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Straight Arrow Connector 43">
            <a:extLst>
              <a:ext uri="{FF2B5EF4-FFF2-40B4-BE49-F238E27FC236}">
                <a16:creationId xmlns:a16="http://schemas.microsoft.com/office/drawing/2014/main" id="{9688602F-EE2C-46B4-ABA7-463DA80130A1}"/>
              </a:ext>
            </a:extLst>
          </p:cNvPr>
          <p:cNvCxnSpPr>
            <a:cxnSpLocks/>
            <a:stCxn id="57" idx="3"/>
            <a:endCxn id="66" idx="1"/>
          </p:cNvCxnSpPr>
          <p:nvPr/>
        </p:nvCxnSpPr>
        <p:spPr>
          <a:xfrm>
            <a:off x="2806395" y="2055214"/>
            <a:ext cx="4151289" cy="1318820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DF27A5C7-03C1-4487-BDC7-6ADC54F6F315}"/>
              </a:ext>
            </a:extLst>
          </p:cNvPr>
          <p:cNvCxnSpPr>
            <a:cxnSpLocks/>
            <a:stCxn id="66" idx="3"/>
            <a:endCxn id="60" idx="2"/>
          </p:cNvCxnSpPr>
          <p:nvPr/>
        </p:nvCxnSpPr>
        <p:spPr>
          <a:xfrm flipH="1" flipV="1">
            <a:off x="6367547" y="2515453"/>
            <a:ext cx="2678396" cy="858581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448FE0AB-4398-40FE-BFAA-D7C9B9C6681D}"/>
              </a:ext>
            </a:extLst>
          </p:cNvPr>
          <p:cNvCxnSpPr>
            <a:cxnSpLocks/>
            <a:stCxn id="54" idx="0"/>
            <a:endCxn id="60" idx="2"/>
          </p:cNvCxnSpPr>
          <p:nvPr/>
        </p:nvCxnSpPr>
        <p:spPr>
          <a:xfrm flipV="1">
            <a:off x="5023380" y="2515453"/>
            <a:ext cx="1344167" cy="734895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Straight Arrow Connector 46">
            <a:extLst>
              <a:ext uri="{FF2B5EF4-FFF2-40B4-BE49-F238E27FC236}">
                <a16:creationId xmlns:a16="http://schemas.microsoft.com/office/drawing/2014/main" id="{2CDC8386-C74C-413B-A6D7-51DF7829EB7D}"/>
              </a:ext>
            </a:extLst>
          </p:cNvPr>
          <p:cNvCxnSpPr>
            <a:cxnSpLocks/>
            <a:stCxn id="60" idx="0"/>
            <a:endCxn id="59" idx="2"/>
          </p:cNvCxnSpPr>
          <p:nvPr/>
        </p:nvCxnSpPr>
        <p:spPr>
          <a:xfrm flipV="1">
            <a:off x="6367547" y="1857772"/>
            <a:ext cx="998139" cy="229038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5F2CFC2-8F4B-4997-B07F-188CFEFC30AA}"/>
                  </a:ext>
                </a:extLst>
              </p:cNvPr>
              <p:cNvSpPr txBox="1"/>
              <p:nvPr/>
            </p:nvSpPr>
            <p:spPr>
              <a:xfrm>
                <a:off x="6193059" y="3801265"/>
                <a:ext cx="1469290" cy="42492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050" i="1">
                          <a:latin typeface="Cambria Math" panose="02040503050406030204" pitchFamily="18" charset="0"/>
                        </a:rPr>
                        <m:t>7=</m:t>
                      </m:r>
                      <m:f>
                        <m:f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𝑅𝑠</m:t>
                          </m:r>
                        </m:den>
                      </m:f>
                      <m:r>
                        <a:rPr lang="en-GB" sz="1050" i="1">
                          <a:latin typeface="Cambria Math" panose="02040503050406030204" pitchFamily="18" charset="0"/>
                        </a:rPr>
                        <m:t>−</m:t>
                      </m:r>
                      <m:f>
                        <m:f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]</m:t>
                          </m:r>
                        </m:den>
                      </m:f>
                    </m:oMath>
                  </m:oMathPara>
                </a14:m>
                <a:endParaRPr lang="en-GB" sz="675" dirty="0"/>
              </a:p>
            </p:txBody>
          </p:sp>
        </mc:Choice>
        <mc:Fallback xmlns="">
          <p:sp>
            <p:nvSpPr>
              <p:cNvPr id="48" name="TextBox 47">
                <a:extLst>
                  <a:ext uri="{FF2B5EF4-FFF2-40B4-BE49-F238E27FC236}">
                    <a16:creationId xmlns:a16="http://schemas.microsoft.com/office/drawing/2014/main" id="{15F2CFC2-8F4B-4997-B07F-188CFEFC30AA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93059" y="3801265"/>
                <a:ext cx="1469290" cy="424925"/>
              </a:xfrm>
              <a:prstGeom prst="rect">
                <a:avLst/>
              </a:prstGeom>
              <a:blipFill>
                <a:blip r:embed="rId4"/>
                <a:stretch>
                  <a:fillRect b="-1351"/>
                </a:stretch>
              </a:blip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AFF17FF-41BA-46B1-B021-98D3D0EE8D0D}"/>
                  </a:ext>
                </a:extLst>
              </p:cNvPr>
              <p:cNvSpPr txBox="1"/>
              <p:nvPr/>
            </p:nvSpPr>
            <p:spPr>
              <a:xfrm>
                <a:off x="2982393" y="4673880"/>
                <a:ext cx="1833282" cy="42780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05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−2</m:t>
                          </m:r>
                          <m:sSub>
                            <m:sSubPr>
                              <m:ctrlPr>
                                <a:rPr lang="en-GB" sz="1050" i="1">
                                  <a:solidFill>
                                    <a:schemeClr val="tx1"/>
                                  </a:solidFill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50" i="1">
                                  <a:solidFill>
                                    <a:schemeClr val="tx1"/>
                                  </a:solidFill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</a:rPr>
                                <m:t>𝑃</m:t>
                              </m:r>
                            </m:e>
                            <m:sub>
                              <m:r>
                                <a:rPr lang="en-US" sz="1050" i="1">
                                  <a:solidFill>
                                    <a:schemeClr val="tx1"/>
                                  </a:solidFill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GB" sz="1050" b="1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𝜸</m:t>
                          </m:r>
                        </m:num>
                        <m:den>
                          <m:r>
                            <a:rPr lang="en-GB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sSub>
                            <m:sSubPr>
                              <m:ctrlPr>
                                <a:rPr lang="en-GB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b>
                              <m:r>
                                <a:rPr lang="en-GB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𝑣</m:t>
                              </m:r>
                            </m:sub>
                          </m:sSub>
                        </m:den>
                      </m:f>
                      <m:f>
                        <m:f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</m:t>
                          </m:r>
                        </m:num>
                        <m:den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3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∅−1</m:t>
                          </m:r>
                        </m:den>
                      </m:f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49" name="TextBox 48">
                <a:extLst>
                  <a:ext uri="{FF2B5EF4-FFF2-40B4-BE49-F238E27FC236}">
                    <a16:creationId xmlns:a16="http://schemas.microsoft.com/office/drawing/2014/main" id="{EAFF17FF-41BA-46B1-B021-98D3D0EE8D0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2393" y="4673880"/>
                <a:ext cx="1833282" cy="427809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41B15EF-615D-4334-A897-ADB6E855AA77}"/>
                  </a:ext>
                </a:extLst>
              </p:cNvPr>
              <p:cNvSpPr txBox="1"/>
              <p:nvPr/>
            </p:nvSpPr>
            <p:spPr>
              <a:xfrm>
                <a:off x="405581" y="4265100"/>
                <a:ext cx="2187785" cy="44518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∆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𝐺</m:t>
                          </m:r>
                        </m:e>
                        <m:sup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p>
                      <m:r>
                        <a:rPr lang="en-GB" sz="105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16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𝜋</m:t>
                          </m:r>
                          <m:sSup>
                            <m:sSupPr>
                              <m:ctrlPr>
                                <a:rPr lang="en-GB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050" b="1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𝜸</m:t>
                              </m:r>
                            </m:e>
                            <m:sup>
                              <m:r>
                                <a:rPr lang="en-GB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3</m:t>
                          </m:r>
                          <m:sSup>
                            <m:sSupPr>
                              <m:ctrlPr>
                                <a:rPr lang="en-GB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GB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sSub>
                                <m:sSubPr>
                                  <m:ctrlPr>
                                    <a:rPr lang="en-GB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𝑣</m:t>
                                  </m:r>
                                </m:sub>
                              </m:sSub>
                              <m:r>
                                <a:rPr lang="en-GB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+∆</m:t>
                              </m:r>
                              <m:sSub>
                                <m:sSubPr>
                                  <m:ctrlPr>
                                    <a:rPr lang="en-GB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</m:e>
                                <m:sub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GB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  <m:f>
                        <m:f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4</m:t>
                          </m:r>
                          <m:sSup>
                            <m:sSupPr>
                              <m:ctrlPr>
                                <a:rPr lang="en-GB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</m:t>
                              </m:r>
                            </m:e>
                            <m:sup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p>
                          </m:sSup>
                        </m:num>
                        <m:den>
                          <m:sSup>
                            <m:sSupPr>
                              <m:ctrlPr>
                                <a:rPr lang="en-GB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(3</m:t>
                              </m:r>
                              <m:r>
                                <a:rPr lang="en-GB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∅−1</m:t>
                              </m:r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e>
                            <m:sup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p>
                          </m:sSup>
                        </m:den>
                      </m:f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52" name="TextBox 51">
                <a:extLst>
                  <a:ext uri="{FF2B5EF4-FFF2-40B4-BE49-F238E27FC236}">
                    <a16:creationId xmlns:a16="http://schemas.microsoft.com/office/drawing/2014/main" id="{841B15EF-615D-4334-A897-ADB6E855AA7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5581" y="4265100"/>
                <a:ext cx="2187785" cy="445186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  <a:ln w="38100"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6216330-15A1-42CF-A7BF-55A1E240801E}"/>
                  </a:ext>
                </a:extLst>
              </p:cNvPr>
              <p:cNvSpPr txBox="1"/>
              <p:nvPr/>
            </p:nvSpPr>
            <p:spPr>
              <a:xfrm>
                <a:off x="4068523" y="3780204"/>
                <a:ext cx="2036367" cy="40536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p>
                        <m:sSupPr>
                          <m:ctrlPr>
                            <a:rPr lang="en-GB" sz="788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788" i="1">
                              <a:latin typeface="Cambria Math" panose="02040503050406030204" pitchFamily="18" charset="0"/>
                            </a:rPr>
                            <m:t>𝑏</m:t>
                          </m:r>
                          <m:r>
                            <a:rPr lang="en-GB" sz="788" i="1">
                              <a:latin typeface="Cambria Math" panose="02040503050406030204" pitchFamily="18" charset="0"/>
                            </a:rPr>
                            <m:t>5=</m:t>
                          </m:r>
                          <m:d>
                            <m:dPr>
                              <m:begChr m:val="{"/>
                              <m:endChr m:val="}"/>
                              <m:ctrlPr>
                                <a:rPr lang="en-GB" sz="788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f>
                                <m:fPr>
                                  <m:ctrlPr>
                                    <a:rPr lang="en-GB" sz="788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sz="788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788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  <m:t>𝑟𝑝</m:t>
                                          </m:r>
                                        </m:e>
                                        <m:sub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  <m:t>𝑆𝑖</m:t>
                                          </m:r>
                                        </m:sub>
                                      </m:sSub>
                                      <m:r>
                                        <a:rPr lang="en-GB" sz="788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  <m:t>𝑆𝑖</m:t>
                                          </m:r>
                                        </m:sub>
                                        <m:sup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sup>
                                      </m:sSubSup>
                                      <m:r>
                                        <a:rPr lang="en-GB" sz="788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GB" sz="788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GB" sz="788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sSub>
                                        <m:sSubPr>
                                          <m:ctrlP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  <m:t>𝐺𝑥</m:t>
                                          </m:r>
                                        </m:e>
                                        <m:sub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  <m:t>𝑆𝑖</m:t>
                                          </m:r>
                                        </m:sub>
                                      </m:sSub>
                                      <m:r>
                                        <a:rPr lang="en-GB" sz="788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788" i="1">
                                          <a:latin typeface="Cambria Math" panose="02040503050406030204" pitchFamily="18" charset="0"/>
                                        </a:rPr>
                                        <m:t>𝑆𝑖</m:t>
                                      </m:r>
                                    </m:sub>
                                    <m:sup>
                                      <m:r>
                                        <a:rPr lang="en-GB" sz="788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sup>
                                  </m:sSubSup>
                                </m:den>
                              </m:f>
                              <m:r>
                                <a:rPr lang="en-GB" sz="788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f>
                                <m:fPr>
                                  <m:ctrlPr>
                                    <a:rPr lang="en-GB" sz="788" i="1"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sSup>
                                    <m:sSupPr>
                                      <m:ctrlPr>
                                        <a:rPr lang="en-GB" sz="788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788" i="1">
                                          <a:latin typeface="Cambria Math" panose="02040503050406030204" pitchFamily="18" charset="0"/>
                                        </a:rPr>
                                        <m:t>(</m:t>
                                      </m:r>
                                      <m:sSub>
                                        <m:sSubPr>
                                          <m:ctrlP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  <m:t>𝑟𝑝</m:t>
                                          </m:r>
                                        </m:e>
                                        <m:sub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  <m:t>𝑀𝑔</m:t>
                                          </m:r>
                                        </m:sub>
                                      </m:sSub>
                                      <m:r>
                                        <a:rPr lang="en-GB" sz="788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−</m:t>
                                      </m:r>
                                      <m:sSubSup>
                                        <m:sSubSupPr>
                                          <m:ctrlP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SupPr>
                                        <m:e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  <m:t>𝑥</m:t>
                                          </m:r>
                                        </m:e>
                                        <m:sub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  <m:t>𝑀𝑔</m:t>
                                          </m:r>
                                        </m:sub>
                                        <m:sup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  <a:ea typeface="Cambria Math" panose="02040503050406030204" pitchFamily="18" charset="0"/>
                                            </a:rPr>
                                            <m:t>𝛼</m:t>
                                          </m:r>
                                        </m:sup>
                                      </m:sSubSup>
                                      <m:r>
                                        <a:rPr lang="en-GB" sz="788" i="1">
                                          <a:latin typeface="Cambria Math" panose="02040503050406030204" pitchFamily="18" charset="0"/>
                                        </a:rPr>
                                        <m:t>)</m:t>
                                      </m:r>
                                    </m:e>
                                    <m:sup>
                                      <m:r>
                                        <a:rPr lang="en-GB" sz="788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</m:num>
                                <m:den>
                                  <m:sSubSup>
                                    <m:sSubSupPr>
                                      <m:ctrlPr>
                                        <a:rPr lang="en-GB" sz="788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SupPr>
                                    <m:e>
                                      <m:sSub>
                                        <m:sSubPr>
                                          <m:ctrlP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sSubPr>
                                        <m:e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  <m:t>𝑑</m:t>
                                          </m:r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  <m:t>2</m:t>
                                          </m:r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  <m:t>𝐺𝑥</m:t>
                                          </m:r>
                                        </m:e>
                                        <m:sub>
                                          <m:r>
                                            <a:rPr lang="en-GB" sz="788" i="1">
                                              <a:latin typeface="Cambria Math" panose="02040503050406030204" pitchFamily="18" charset="0"/>
                                            </a:rPr>
                                            <m:t>𝑀𝑔</m:t>
                                          </m:r>
                                        </m:sub>
                                      </m:sSub>
                                      <m:r>
                                        <a:rPr lang="en-GB" sz="788" i="1">
                                          <a:latin typeface="Cambria Math" panose="02040503050406030204" pitchFamily="18" charset="0"/>
                                        </a:rPr>
                                        <m:t>𝑥</m:t>
                                      </m:r>
                                    </m:e>
                                    <m:sub>
                                      <m:r>
                                        <a:rPr lang="en-GB" sz="788" i="1">
                                          <a:latin typeface="Cambria Math" panose="02040503050406030204" pitchFamily="18" charset="0"/>
                                        </a:rPr>
                                        <m:t>𝑀𝑔</m:t>
                                      </m:r>
                                    </m:sub>
                                    <m:sup>
                                      <m:r>
                                        <a:rPr lang="en-GB" sz="788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𝛼</m:t>
                                      </m:r>
                                    </m:sup>
                                  </m:sSubSup>
                                </m:den>
                              </m:f>
                            </m:e>
                          </m:d>
                        </m:e>
                        <m:sup>
                          <m:r>
                            <a:rPr lang="en-GB" sz="788" i="1">
                              <a:latin typeface="Cambria Math" panose="02040503050406030204" pitchFamily="18" charset="0"/>
                            </a:rPr>
                            <m:t>−1</m:t>
                          </m:r>
                        </m:sup>
                      </m:sSup>
                    </m:oMath>
                  </m:oMathPara>
                </a14:m>
                <a:endParaRPr lang="en-GB" sz="788" dirty="0"/>
              </a:p>
            </p:txBody>
          </p:sp>
        </mc:Choice>
        <mc:Fallback>
          <p:sp>
            <p:nvSpPr>
              <p:cNvPr id="53" name="TextBox 52">
                <a:extLst>
                  <a:ext uri="{FF2B5EF4-FFF2-40B4-BE49-F238E27FC236}">
                    <a16:creationId xmlns:a16="http://schemas.microsoft.com/office/drawing/2014/main" id="{B6216330-15A1-42CF-A7BF-55A1E24080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068523" y="3780204"/>
                <a:ext cx="2036367" cy="405367"/>
              </a:xfrm>
              <a:prstGeom prst="rect">
                <a:avLst/>
              </a:prstGeom>
              <a:blipFill>
                <a:blip r:embed="rId8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B48B8B1-9D18-43F5-B2CB-8774DAC96D6D}"/>
                  </a:ext>
                </a:extLst>
              </p:cNvPr>
              <p:cNvSpPr txBox="1"/>
              <p:nvPr/>
            </p:nvSpPr>
            <p:spPr>
              <a:xfrm>
                <a:off x="4291439" y="3250348"/>
                <a:ext cx="1463881" cy="36574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050" i="1"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6=</m:t>
                    </m:r>
                    <m:f>
                      <m:f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𝑃𝑅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[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]</m:t>
                        </m:r>
                      </m:den>
                    </m:f>
                  </m:oMath>
                </a14:m>
                <a:r>
                  <a:rPr lang="en-GB" sz="1050" dirty="0"/>
                  <a:t> </a:t>
                </a:r>
                <a14:m>
                  <m:oMath xmlns:m="http://schemas.openxmlformats.org/officeDocument/2006/math">
                    <m:f>
                      <m:f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4</m:t>
                        </m:r>
                        <m:sSub>
                          <m:sSub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𝛾</m:t>
                            </m:r>
                          </m:e>
                          <m:sub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0</m:t>
                            </m:r>
                          </m:sub>
                        </m:sSub>
                        <m:r>
                          <a:rPr lang="en-GB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</m:t>
                        </m:r>
                        <m:sSub>
                          <m:sSubPr>
                            <m:ctrlPr>
                              <a:rPr lang="en-GB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𝑣</m:t>
                            </m:r>
                          </m:e>
                          <m:sub>
                            <m:r>
                              <a:rPr lang="en-GB" sz="1050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𝑚</m:t>
                            </m:r>
                          </m:sub>
                        </m:sSub>
                      </m:num>
                      <m:den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(3</m:t>
                        </m:r>
                        <m:r>
                          <a:rPr lang="en-GB" sz="1050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∅−1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)</m:t>
                        </m:r>
                        <m:sSub>
                          <m:sSubPr>
                            <m:ctrlPr>
                              <a:rPr lang="en-GB" sz="105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𝑅</m:t>
                            </m:r>
                          </m:e>
                          <m:sub>
                            <m:r>
                              <a:rPr lang="en-GB" sz="1050" i="1">
                                <a:latin typeface="Cambria Math" panose="02040503050406030204" pitchFamily="18" charset="0"/>
                              </a:rPr>
                              <m:t>𝑔</m:t>
                            </m:r>
                          </m:sub>
                        </m:sSub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𝑇</m:t>
                        </m:r>
                      </m:den>
                    </m:f>
                  </m:oMath>
                </a14:m>
                <a:endParaRPr lang="en-GB" sz="900" dirty="0"/>
              </a:p>
            </p:txBody>
          </p:sp>
        </mc:Choice>
        <mc:Fallback>
          <p:sp>
            <p:nvSpPr>
              <p:cNvPr id="54" name="TextBox 53">
                <a:extLst>
                  <a:ext uri="{FF2B5EF4-FFF2-40B4-BE49-F238E27FC236}">
                    <a16:creationId xmlns:a16="http://schemas.microsoft.com/office/drawing/2014/main" id="{CB48B8B1-9D18-43F5-B2CB-8774DAC96D6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91439" y="3250348"/>
                <a:ext cx="1463881" cy="365741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663FD33-FD33-4C41-8150-C6CC1A40249F}"/>
                  </a:ext>
                </a:extLst>
              </p:cNvPr>
              <p:cNvSpPr txBox="1"/>
              <p:nvPr/>
            </p:nvSpPr>
            <p:spPr>
              <a:xfrm>
                <a:off x="7428201" y="2074570"/>
                <a:ext cx="1435107" cy="476734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 smtClean="0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𝑔𝑟𝑜𝑤𝑡h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200" i="1">
                              <a:solidFill>
                                <a:schemeClr val="tx1"/>
                              </a:solidFill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200" i="1">
                              <a:solidFill>
                                <a:schemeClr val="tx1"/>
                              </a:solidFill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200" i="1">
                              <a:solidFill>
                                <a:schemeClr val="tx1"/>
                              </a:solidFill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</a:rPr>
                            <m:t>4</m:t>
                          </m:r>
                        </m:sub>
                      </m:sSub>
                      <m:r>
                        <a:rPr lang="en-GB" sz="1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5.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6.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US" sz="1200" b="0" i="1" smtClean="0">
                          <a:latin typeface="Cambria Math" panose="02040503050406030204" pitchFamily="18" charset="0"/>
                        </a:rPr>
                        <m:t>7</m:t>
                      </m:r>
                    </m:oMath>
                  </m:oMathPara>
                </a14:m>
                <a:endParaRPr lang="en-GB" sz="1500" dirty="0"/>
              </a:p>
            </p:txBody>
          </p:sp>
        </mc:Choice>
        <mc:Fallback>
          <p:sp>
            <p:nvSpPr>
              <p:cNvPr id="55" name="TextBox 54">
                <a:extLst>
                  <a:ext uri="{FF2B5EF4-FFF2-40B4-BE49-F238E27FC236}">
                    <a16:creationId xmlns:a16="http://schemas.microsoft.com/office/drawing/2014/main" id="{D663FD33-FD33-4C41-8150-C6CC1A40249F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428201" y="2074570"/>
                <a:ext cx="1435107" cy="476734"/>
              </a:xfrm>
              <a:prstGeom prst="rect">
                <a:avLst/>
              </a:prstGeom>
              <a:blipFill>
                <a:blip r:embed="rId10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086648E3-1BD9-423F-A149-3E0FDBD5D1DA}"/>
              </a:ext>
            </a:extLst>
          </p:cNvPr>
          <p:cNvCxnSpPr>
            <a:cxnSpLocks/>
            <a:stCxn id="54" idx="0"/>
            <a:endCxn id="55" idx="2"/>
          </p:cNvCxnSpPr>
          <p:nvPr/>
        </p:nvCxnSpPr>
        <p:spPr>
          <a:xfrm flipV="1">
            <a:off x="5023380" y="2551304"/>
            <a:ext cx="3122375" cy="699044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550AF2C-8C8D-4A05-8387-67FA7CF1CB1C}"/>
                  </a:ext>
                </a:extLst>
              </p:cNvPr>
              <p:cNvSpPr txBox="1"/>
              <p:nvPr/>
            </p:nvSpPr>
            <p:spPr>
              <a:xfrm>
                <a:off x="2154376" y="1917868"/>
                <a:ext cx="652019" cy="27469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𝑥</m:t>
                          </m:r>
                        </m:e>
                        <m: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  <m:sup>
                          <m:r>
                            <a:rPr lang="en-GB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𝛼</m:t>
                          </m:r>
                        </m:sup>
                      </m:sSubSup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57" name="TextBox 56">
                <a:extLst>
                  <a:ext uri="{FF2B5EF4-FFF2-40B4-BE49-F238E27FC236}">
                    <a16:creationId xmlns:a16="http://schemas.microsoft.com/office/drawing/2014/main" id="{A550AF2C-8C8D-4A05-8387-67FA7CF1CB1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154376" y="1917868"/>
                <a:ext cx="652019" cy="274691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78AA60C-ADE3-443A-B336-2A93F4286893}"/>
                  </a:ext>
                </a:extLst>
              </p:cNvPr>
              <p:cNvSpPr txBox="1"/>
              <p:nvPr/>
            </p:nvSpPr>
            <p:spPr>
              <a:xfrm>
                <a:off x="4200357" y="1934607"/>
                <a:ext cx="903725" cy="276999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200" i="1">
                          <a:latin typeface="Cambria Math" panose="02040503050406030204" pitchFamily="18" charset="0"/>
                        </a:rPr>
                        <m:t>𝑁𝐷</m:t>
                      </m:r>
                      <m:d>
                        <m:dPr>
                          <m:begChr m:val="["/>
                          <m:endChr m:val="]"/>
                          <m:ctrlPr>
                            <a:rPr lang="en-GB" sz="12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GB" sz="1200" i="1">
                              <a:latin typeface="Cambria Math" panose="02040503050406030204" pitchFamily="18" charset="0"/>
                            </a:rPr>
                            <m:t>𝑖</m:t>
                          </m:r>
                        </m:e>
                      </m:d>
                      <m:r>
                        <a:rPr lang="en-GB" sz="1200" i="1">
                          <a:latin typeface="Cambria Math" panose="02040503050406030204" pitchFamily="18" charset="0"/>
                        </a:rPr>
                        <m:t>, 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𝑃𝑅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120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1200" dirty="0"/>
              </a:p>
            </p:txBody>
          </p:sp>
        </mc:Choice>
        <mc:Fallback xmlns="">
          <p:sp>
            <p:nvSpPr>
              <p:cNvPr id="58" name="TextBox 57">
                <a:extLst>
                  <a:ext uri="{FF2B5EF4-FFF2-40B4-BE49-F238E27FC236}">
                    <a16:creationId xmlns:a16="http://schemas.microsoft.com/office/drawing/2014/main" id="{D78AA60C-ADE3-443A-B336-2A93F4286893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00357" y="1934607"/>
                <a:ext cx="903725" cy="276999"/>
              </a:xfrm>
              <a:prstGeom prst="rect">
                <a:avLst/>
              </a:prstGeom>
              <a:blipFill>
                <a:blip r:embed="rId12"/>
                <a:stretch>
                  <a:fillRect r="-4545" b="-1923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3F360A5-D8EE-4122-88E4-E719EF875DD1}"/>
                  </a:ext>
                </a:extLst>
              </p:cNvPr>
              <p:cNvSpPr txBox="1"/>
              <p:nvPr/>
            </p:nvSpPr>
            <p:spPr>
              <a:xfrm>
                <a:off x="5938535" y="1590711"/>
                <a:ext cx="2854301" cy="267061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GB" sz="1050" i="1">
                        <a:latin typeface="Cambria Math" panose="02040503050406030204" pitchFamily="18" charset="0"/>
                      </a:rPr>
                      <m:t>𝑃𝑅</m:t>
                    </m:r>
                    <m:d>
                      <m:dPr>
                        <m:begChr m:val="["/>
                        <m:endChr m:val="]"/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0: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GB" sz="1050" i="1">
                        <a:latin typeface="Cambria Math" panose="02040503050406030204" pitchFamily="18" charset="0"/>
                      </a:rPr>
                      <m:t>=</m:t>
                    </m:r>
                    <m:r>
                      <a:rPr lang="en-GB" sz="1050" i="1">
                        <a:latin typeface="Cambria Math" panose="02040503050406030204" pitchFamily="18" charset="0"/>
                      </a:rPr>
                      <m:t>𝑃𝑅</m:t>
                    </m:r>
                    <m:d>
                      <m:dPr>
                        <m:begChr m:val="["/>
                        <m:endChr m:val="]"/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0:</m:t>
                        </m:r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𝑖</m:t>
                        </m:r>
                      </m:e>
                    </m:d>
                    <m:r>
                      <a:rPr lang="en-GB" sz="1050" i="1">
                        <a:latin typeface="Cambria Math" panose="02040503050406030204" pitchFamily="18" charset="0"/>
                      </a:rPr>
                      <m:t>+</m:t>
                    </m:r>
                  </m:oMath>
                </a14:m>
                <a:r>
                  <a:rPr lang="en-GB" sz="1050" dirty="0"/>
                  <a:t> </a:t>
                </a:r>
                <a14:m>
                  <m:oMath xmlns:m="http://schemas.openxmlformats.org/officeDocument/2006/math">
                    <m:r>
                      <a:rPr lang="en-GB" sz="1050" i="1">
                        <a:latin typeface="Cambria Math" panose="02040503050406030204" pitchFamily="18" charset="0"/>
                      </a:rPr>
                      <m:t>𝑣𝑒</m:t>
                    </m:r>
                    <m:sSub>
                      <m:sSub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𝑐𝑜𝑎𝑟𝑠𝑒𝑛𝑖𝑛𝑔</m:t>
                        </m:r>
                      </m:sub>
                    </m:sSub>
                  </m:oMath>
                </a14:m>
                <a:r>
                  <a:rPr lang="en-GB" sz="1050" dirty="0"/>
                  <a:t>+ </a:t>
                </a:r>
                <a14:m>
                  <m:oMath xmlns:m="http://schemas.openxmlformats.org/officeDocument/2006/math">
                    <m:r>
                      <a:rPr lang="en-GB" sz="1050" i="1">
                        <a:latin typeface="Cambria Math" panose="02040503050406030204" pitchFamily="18" charset="0"/>
                      </a:rPr>
                      <m:t>𝑣𝑒</m:t>
                    </m:r>
                    <m:sSub>
                      <m:sSubPr>
                        <m:ctrlPr>
                          <a:rPr lang="en-GB" sz="105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𝑙</m:t>
                        </m:r>
                      </m:e>
                      <m:sub>
                        <m:r>
                          <a:rPr lang="en-GB" sz="1050" i="1">
                            <a:latin typeface="Cambria Math" panose="02040503050406030204" pitchFamily="18" charset="0"/>
                          </a:rPr>
                          <m:t>𝑔𝑟𝑜𝑤𝑡h</m:t>
                        </m:r>
                      </m:sub>
                    </m:sSub>
                  </m:oMath>
                </a14:m>
                <a:endParaRPr lang="en-GB" sz="1050" dirty="0"/>
              </a:p>
            </p:txBody>
          </p:sp>
        </mc:Choice>
        <mc:Fallback xmlns="">
          <p:sp>
            <p:nvSpPr>
              <p:cNvPr id="59" name="TextBox 58">
                <a:extLst>
                  <a:ext uri="{FF2B5EF4-FFF2-40B4-BE49-F238E27FC236}">
                    <a16:creationId xmlns:a16="http://schemas.microsoft.com/office/drawing/2014/main" id="{43F360A5-D8EE-4122-88E4-E719EF875DD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38535" y="1590711"/>
                <a:ext cx="2854301" cy="26706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58A883B-2CB3-4E7D-9B65-C7F69DD9D398}"/>
                  </a:ext>
                </a:extLst>
              </p:cNvPr>
              <p:cNvSpPr txBox="1"/>
              <p:nvPr/>
            </p:nvSpPr>
            <p:spPr>
              <a:xfrm>
                <a:off x="5491136" y="2086810"/>
                <a:ext cx="1752822" cy="428643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i="1" smtClean="0">
                          <a:latin typeface="Cambria Math" panose="02040503050406030204" pitchFamily="18" charset="0"/>
                        </a:rPr>
                        <m:t>𝑣𝑒</m:t>
                      </m:r>
                      <m:sSub>
                        <m:sSub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𝑙</m:t>
                          </m:r>
                        </m:e>
                        <m: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𝑐𝑜𝑎𝑟𝑠𝑒𝑛𝑖𝑛𝑔</m:t>
                          </m:r>
                        </m:sub>
                      </m:sSub>
                      <m:r>
                        <a:rPr lang="en-GB" sz="105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050" i="1">
                              <a:solidFill>
                                <a:schemeClr val="tx1"/>
                              </a:solidFill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i="1">
                              <a:solidFill>
                                <a:schemeClr val="tx1"/>
                              </a:solidFill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</a:rPr>
                            <m:t>𝑃</m:t>
                          </m:r>
                        </m:e>
                        <m:sub>
                          <m:r>
                            <a:rPr lang="en-GB" sz="1050" b="0" i="1" smtClean="0">
                              <a:solidFill>
                                <a:schemeClr val="tx1"/>
                              </a:solidFill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</a:rPr>
                            <m:t>5</m:t>
                          </m:r>
                        </m:sub>
                      </m:sSub>
                      <m:r>
                        <a:rPr lang="en-GB" sz="105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050" i="1">
                          <a:latin typeface="Cambria Math" panose="02040503050406030204" pitchFamily="18" charset="0"/>
                        </a:rPr>
                        <m:t>10.</m:t>
                      </m:r>
                      <m:r>
                        <a:rPr lang="en-GB" sz="105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050" i="1">
                          <a:latin typeface="Cambria Math" panose="02040503050406030204" pitchFamily="18" charset="0"/>
                        </a:rPr>
                        <m:t>6. </m:t>
                      </m:r>
                      <m:r>
                        <a:rPr lang="en-GB" sz="1050" i="1">
                          <a:latin typeface="Cambria Math" panose="02040503050406030204" pitchFamily="18" charset="0"/>
                        </a:rPr>
                        <m:t>𝑐𝑜𝑎𝑟𝑠</m:t>
                      </m:r>
                      <m:r>
                        <a:rPr lang="en-GB" sz="1050" i="1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GB" sz="1050" i="1">
                          <a:latin typeface="Cambria Math" panose="02040503050406030204" pitchFamily="18" charset="0"/>
                        </a:rPr>
                        <m:t>𝑃𝑅</m:t>
                      </m:r>
                      <m:r>
                        <a:rPr lang="en-GB" sz="1050" i="1">
                          <a:latin typeface="Cambria Math" panose="02040503050406030204" pitchFamily="18" charset="0"/>
                        </a:rPr>
                        <m:t>[</m:t>
                      </m:r>
                      <m:r>
                        <a:rPr lang="en-GB" sz="1050" i="1">
                          <a:latin typeface="Cambria Math" panose="02040503050406030204" pitchFamily="18" charset="0"/>
                        </a:rPr>
                        <m:t>𝑖</m:t>
                      </m:r>
                      <m:r>
                        <a:rPr lang="en-GB" sz="1050" i="1">
                          <a:latin typeface="Cambria Math" panose="02040503050406030204" pitchFamily="18" charset="0"/>
                        </a:rPr>
                        <m:t>]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60" name="TextBox 59">
                <a:extLst>
                  <a:ext uri="{FF2B5EF4-FFF2-40B4-BE49-F238E27FC236}">
                    <a16:creationId xmlns:a16="http://schemas.microsoft.com/office/drawing/2014/main" id="{558A883B-2CB3-4E7D-9B65-C7F69DD9D398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1136" y="2086810"/>
                <a:ext cx="1752822" cy="428643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61" name="Straight Arrow Connector 60">
            <a:extLst>
              <a:ext uri="{FF2B5EF4-FFF2-40B4-BE49-F238E27FC236}">
                <a16:creationId xmlns:a16="http://schemas.microsoft.com/office/drawing/2014/main" id="{759B8C84-993D-47B8-A2A5-A4C58F3A86A6}"/>
              </a:ext>
            </a:extLst>
          </p:cNvPr>
          <p:cNvCxnSpPr>
            <a:cxnSpLocks/>
            <a:stCxn id="58" idx="2"/>
            <a:endCxn id="54" idx="0"/>
          </p:cNvCxnSpPr>
          <p:nvPr/>
        </p:nvCxnSpPr>
        <p:spPr>
          <a:xfrm>
            <a:off x="4652220" y="2211606"/>
            <a:ext cx="371160" cy="1038742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>
        <mc:Choice xmlns:a14="http://schemas.microsoft.com/office/drawing/2010/main" Requires="a14"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36EDFB0-E2D0-4B00-81DE-B63C33F5AE3C}"/>
                  </a:ext>
                </a:extLst>
              </p:cNvPr>
              <p:cNvSpPr txBox="1"/>
              <p:nvPr/>
            </p:nvSpPr>
            <p:spPr>
              <a:xfrm>
                <a:off x="258097" y="2667696"/>
                <a:ext cx="1830746" cy="734753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GB" sz="105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𝑑𝑁</m:t>
                          </m:r>
                        </m:num>
                        <m:den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𝑑𝑡</m:t>
                          </m:r>
                        </m:den>
                      </m:f>
                      <m:r>
                        <a:rPr lang="en-GB" sz="105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f>
                            <m:fPr>
                              <m:ctrlPr>
                                <a:rPr lang="en-US" sz="1050" b="0" i="1" smtClean="0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sSub>
                                <m:sSubPr>
                                  <m:ctrlPr>
                                    <a:rPr lang="en-GB" sz="1050" i="1">
                                      <a:highlight>
                                        <a:srgbClr val="00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050">
                                      <a:highlight>
                                        <a:srgbClr val="00FF00"/>
                                      </a:highlight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  <m:r>
                                    <a:rPr lang="en-US" sz="1050" i="1">
                                      <a:highlight>
                                        <a:srgbClr val="00FF00"/>
                                      </a:highlight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GB" sz="1050" i="1">
                                      <a:highlight>
                                        <a:srgbClr val="00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highlight>
                                        <a:srgbClr val="00FF00"/>
                                      </a:highlight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050" i="1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sz="1050" b="0" i="1" smtClean="0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</a:rPr>
                                <m:t>1+</m:t>
                              </m:r>
                              <m:sSub>
                                <m:sSubPr>
                                  <m:ctrlPr>
                                    <a:rPr lang="en-GB" sz="1050" i="1">
                                      <a:highlight>
                                        <a:srgbClr val="00FF00"/>
                                      </a:highlight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m:rPr>
                                      <m:sty m:val="p"/>
                                    </m:rPr>
                                    <a:rPr lang="en-US" sz="1050">
                                      <a:highlight>
                                        <a:srgbClr val="00FF00"/>
                                      </a:highlight>
                                      <a:latin typeface="Cambria Math" panose="02040503050406030204" pitchFamily="18" charset="0"/>
                                    </a:rPr>
                                    <m:t>exp</m:t>
                                  </m:r>
                                  <m:r>
                                    <a:rPr lang="en-US" sz="1050" i="1">
                                      <a:highlight>
                                        <a:srgbClr val="00FF00"/>
                                      </a:highlight>
                                      <a:latin typeface="Cambria Math" panose="02040503050406030204" pitchFamily="18" charset="0"/>
                                    </a:rPr>
                                    <m:t>⁡(</m:t>
                                  </m:r>
                                  <m:r>
                                    <a:rPr lang="en-GB" sz="1050" i="1">
                                      <a:highlight>
                                        <a:srgbClr val="00FF00"/>
                                      </a:highlight>
                                      <a:latin typeface="Cambria Math" panose="02040503050406030204" pitchFamily="18" charset="0"/>
                                    </a:rPr>
                                    <m:t>𝑃</m:t>
                                  </m:r>
                                </m:e>
                                <m:sub>
                                  <m:r>
                                    <a:rPr lang="en-US" sz="1050" i="1">
                                      <a:highlight>
                                        <a:srgbClr val="00FF00"/>
                                      </a:highlight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US" sz="1050" i="1">
                                  <a:highlight>
                                    <a:srgbClr val="00FF00"/>
                                  </a:highlight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US" sz="1050" b="0" i="1" smtClean="0">
                              <a:highlight>
                                <a:srgbClr val="00FF00"/>
                              </a:highlight>
                              <a:latin typeface="Cambria Math" panose="02040503050406030204" pitchFamily="18" charset="0"/>
                            </a:rPr>
                            <m:t>.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𝑁</m:t>
                          </m:r>
                        </m:e>
                        <m: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0</m:t>
                          </m:r>
                        </m:sub>
                      </m:sSub>
                      <m:r>
                        <a:rPr lang="en-GB" sz="1050" i="1">
                          <a:latin typeface="Cambria Math" panose="02040503050406030204" pitchFamily="18" charset="0"/>
                        </a:rPr>
                        <m:t>𝑍</m:t>
                      </m:r>
                      <m:r>
                        <a:rPr lang="en-GB" sz="10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𝛽</m:t>
                      </m:r>
                      <m:r>
                        <m:rPr>
                          <m:sty m:val="p"/>
                        </m:rPr>
                        <a:rPr lang="en-GB" sz="1050">
                          <a:latin typeface="Cambria Math" panose="02040503050406030204" pitchFamily="18" charset="0"/>
                        </a:rPr>
                        <m:t>exp</m:t>
                      </m:r>
                      <m:r>
                        <a:rPr lang="en-GB" sz="1050" i="1">
                          <a:latin typeface="Cambria Math" panose="02040503050406030204" pitchFamily="18" charset="0"/>
                        </a:rPr>
                        <m:t>⁡(−</m:t>
                      </m:r>
                      <m:f>
                        <m:f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sSup>
                            <m:sSupPr>
                              <m:ctrlPr>
                                <a:rPr lang="en-GB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r>
                                <a:rPr lang="en-GB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∆</m:t>
                              </m:r>
                              <m:r>
                                <a:rPr lang="en-GB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𝐺</m:t>
                              </m:r>
                            </m:e>
                            <m:sup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∗</m:t>
                              </m:r>
                            </m:sup>
                          </m:sSup>
                        </m:num>
                        <m:den>
                          <m:sSub>
                            <m:sSubPr>
                              <m:ctrlPr>
                                <a:rPr lang="en-GB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𝑘</m:t>
                              </m:r>
                            </m:e>
                            <m:sub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sub>
                          </m:s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𝑇</m:t>
                          </m:r>
                        </m:den>
                      </m:f>
                      <m:r>
                        <a:rPr lang="en-GB" sz="1050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GB" sz="1050" dirty="0"/>
              </a:p>
            </p:txBody>
          </p:sp>
        </mc:Choice>
        <mc:Fallback>
          <p:sp>
            <p:nvSpPr>
              <p:cNvPr id="62" name="TextBox 61">
                <a:extLst>
                  <a:ext uri="{FF2B5EF4-FFF2-40B4-BE49-F238E27FC236}">
                    <a16:creationId xmlns:a16="http://schemas.microsoft.com/office/drawing/2014/main" id="{536EDFB0-E2D0-4B00-81DE-B63C33F5AE3C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8097" y="2667696"/>
                <a:ext cx="1830746" cy="734753"/>
              </a:xfrm>
              <a:prstGeom prst="rect">
                <a:avLst/>
              </a:prstGeom>
              <a:blipFill>
                <a:blip r:embed="rId15"/>
                <a:stretch>
                  <a:fillRect r="-8795"/>
                </a:stretch>
              </a:blipFill>
              <a:ln w="38100"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F24E8EB-A825-4FD4-8A42-17493C57E427}"/>
                  </a:ext>
                </a:extLst>
              </p:cNvPr>
              <p:cNvSpPr txBox="1"/>
              <p:nvPr/>
            </p:nvSpPr>
            <p:spPr>
              <a:xfrm>
                <a:off x="6424175" y="4762726"/>
                <a:ext cx="1706156" cy="268407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𝑑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𝐺𝑥</m:t>
                          </m:r>
                        </m:e>
                        <m: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𝑆𝑖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𝑀𝑔</m:t>
                          </m:r>
                        </m:sub>
                      </m:sSub>
                      <m:r>
                        <a:rPr lang="en-GB" sz="1050" i="1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GB" sz="1050" i="1">
                          <a:latin typeface="Cambria Math" panose="02040503050406030204" pitchFamily="18" charset="0"/>
                        </a:rPr>
                        <m:t>𝑅𝑇</m:t>
                      </m:r>
                      <m:r>
                        <a:rPr lang="en-GB" sz="1050" i="1">
                          <a:latin typeface="Cambria Math" panose="02040503050406030204" pitchFamily="18" charset="0"/>
                        </a:rPr>
                        <m:t>/</m:t>
                      </m:r>
                      <m:sSub>
                        <m:sSub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𝐷</m:t>
                          </m:r>
                        </m:e>
                        <m: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𝑀𝑔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/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𝑆𝑖</m:t>
                          </m:r>
                        </m:sub>
                      </m:sSub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64" name="TextBox 63">
                <a:extLst>
                  <a:ext uri="{FF2B5EF4-FFF2-40B4-BE49-F238E27FC236}">
                    <a16:creationId xmlns:a16="http://schemas.microsoft.com/office/drawing/2014/main" id="{7F24E8EB-A825-4FD4-8A42-17493C57E427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424175" y="4762726"/>
                <a:ext cx="1706156" cy="268407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A44011B-637F-4414-A144-1ED674063B7D}"/>
                  </a:ext>
                </a:extLst>
              </p:cNvPr>
              <p:cNvSpPr txBox="1"/>
              <p:nvPr/>
            </p:nvSpPr>
            <p:spPr>
              <a:xfrm>
                <a:off x="6957684" y="3122586"/>
                <a:ext cx="2088259" cy="502895"/>
              </a:xfrm>
              <a:prstGeom prst="rect">
                <a:avLst/>
              </a:prstGeom>
              <a:solidFill>
                <a:schemeClr val="bg1"/>
              </a:solid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GB" sz="1050" i="1">
                          <a:latin typeface="Cambria Math" panose="02040503050406030204" pitchFamily="18" charset="0"/>
                        </a:rPr>
                        <m:t>𝑏</m:t>
                      </m:r>
                      <m:r>
                        <a:rPr lang="en-GB" sz="1050" i="1">
                          <a:latin typeface="Cambria Math" panose="02040503050406030204" pitchFamily="18" charset="0"/>
                        </a:rPr>
                        <m:t>10=1/</m:t>
                      </m:r>
                      <m:nary>
                        <m:naryPr>
                          <m:chr m:val="∑"/>
                          <m:supHide m:val="on"/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7"/>
                            </m:rPr>
                            <a:rPr lang="en-GB" sz="1050" i="1">
                              <a:latin typeface="Cambria Math" panose="02040503050406030204" pitchFamily="18" charset="0"/>
                            </a:rPr>
                            <m:t>𝑆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, 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𝑀𝑔</m:t>
                          </m:r>
                        </m:sub>
                        <m:sup/>
                        <m:e>
                          <m:sSub>
                            <m:sSubPr>
                              <m:ctrlPr>
                                <a:rPr lang="en-GB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𝑥𝑝</m:t>
                              </m:r>
                            </m:e>
                            <m:sub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𝑆𝑖</m:t>
                              </m:r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𝑀𝑔</m:t>
                              </m:r>
                            </m:sub>
                          </m:sSub>
                          <m:sSub>
                            <m:sSubPr>
                              <m:ctrlPr>
                                <a:rPr lang="en-GB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𝑑</m:t>
                              </m:r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𝐺𝑥</m:t>
                              </m:r>
                            </m:e>
                            <m:sub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𝑆𝑖</m:t>
                              </m:r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𝑀𝑔</m:t>
                              </m:r>
                            </m:sub>
                          </m:sSub>
                        </m:e>
                      </m:nary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66" name="TextBox 65">
                <a:extLst>
                  <a:ext uri="{FF2B5EF4-FFF2-40B4-BE49-F238E27FC236}">
                    <a16:creationId xmlns:a16="http://schemas.microsoft.com/office/drawing/2014/main" id="{4A44011B-637F-4414-A144-1ED674063B7D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957684" y="3122586"/>
                <a:ext cx="2088259" cy="502895"/>
              </a:xfrm>
              <a:prstGeom prst="rect">
                <a:avLst/>
              </a:prstGeom>
              <a:blipFill>
                <a:blip r:embed="rId17"/>
                <a:stretch>
                  <a:fillRect t="-100000" b="-135227"/>
                </a:stretch>
              </a:blipFill>
              <a:ln w="28575">
                <a:solidFill>
                  <a:schemeClr val="bg1">
                    <a:lumMod val="95000"/>
                  </a:schemeClr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4885DFE5-7C94-4E2F-8B6F-6FE7093D47AB}"/>
                  </a:ext>
                </a:extLst>
              </p:cNvPr>
              <p:cNvSpPr txBox="1"/>
              <p:nvPr/>
            </p:nvSpPr>
            <p:spPr>
              <a:xfrm>
                <a:off x="528873" y="1425422"/>
                <a:ext cx="980912" cy="25391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  <m:r>
                        <a:rPr lang="en-GB" sz="105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𝑤</m:t>
                          </m:r>
                        </m:sub>
                      </m:sSub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159" name="TextBox 158">
                <a:extLst>
                  <a:ext uri="{FF2B5EF4-FFF2-40B4-BE49-F238E27FC236}">
                    <a16:creationId xmlns:a16="http://schemas.microsoft.com/office/drawing/2014/main" id="{4885DFE5-7C94-4E2F-8B6F-6FE7093D47A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28873" y="1425422"/>
                <a:ext cx="980912" cy="253916"/>
              </a:xfrm>
              <a:prstGeom prst="rect">
                <a:avLst/>
              </a:prstGeom>
              <a:blipFill>
                <a:blip r:embed="rId18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E9D83744-9971-4CB0-8C79-EB018E998D81}"/>
                  </a:ext>
                </a:extLst>
              </p:cNvPr>
              <p:cNvSpPr txBox="1"/>
              <p:nvPr/>
            </p:nvSpPr>
            <p:spPr>
              <a:xfrm>
                <a:off x="2224149" y="1414241"/>
                <a:ext cx="1000660" cy="253916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𝑁𝐷</m:t>
                          </m:r>
                          <m:d>
                            <m:dPr>
                              <m:begChr m:val="["/>
                              <m:endChr m:val="]"/>
                              <m:ctrlPr>
                                <a:rPr lang="en-GB" sz="105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e>
                          </m:d>
                        </m:e>
                        <m: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050" i="1">
                          <a:latin typeface="Cambria Math" panose="02040503050406030204" pitchFamily="18" charset="0"/>
                        </a:rPr>
                        <m:t>,</m:t>
                      </m:r>
                      <m:sSub>
                        <m:sSub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𝑃𝑅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[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]</m:t>
                          </m:r>
                        </m:e>
                        <m: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161" name="TextBox 160">
                <a:extLst>
                  <a:ext uri="{FF2B5EF4-FFF2-40B4-BE49-F238E27FC236}">
                    <a16:creationId xmlns:a16="http://schemas.microsoft.com/office/drawing/2014/main" id="{E9D83744-9971-4CB0-8C79-EB018E998D8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149" y="1414241"/>
                <a:ext cx="1000660" cy="253916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64" name="Straight Arrow Connector 163">
            <a:extLst>
              <a:ext uri="{FF2B5EF4-FFF2-40B4-BE49-F238E27FC236}">
                <a16:creationId xmlns:a16="http://schemas.microsoft.com/office/drawing/2014/main" id="{23F1E743-3953-4B58-A1B1-C728DB06EB30}"/>
              </a:ext>
            </a:extLst>
          </p:cNvPr>
          <p:cNvCxnSpPr>
            <a:cxnSpLocks/>
            <a:stCxn id="58" idx="0"/>
            <a:endCxn id="161" idx="2"/>
          </p:cNvCxnSpPr>
          <p:nvPr/>
        </p:nvCxnSpPr>
        <p:spPr>
          <a:xfrm flipH="1" flipV="1">
            <a:off x="2724479" y="1668157"/>
            <a:ext cx="1927741" cy="266450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7" name="Straight Arrow Connector 166">
            <a:extLst>
              <a:ext uri="{FF2B5EF4-FFF2-40B4-BE49-F238E27FC236}">
                <a16:creationId xmlns:a16="http://schemas.microsoft.com/office/drawing/2014/main" id="{EBAC2FC7-2E60-4C0E-AAD2-C03F0921B32F}"/>
              </a:ext>
            </a:extLst>
          </p:cNvPr>
          <p:cNvCxnSpPr>
            <a:cxnSpLocks/>
          </p:cNvCxnSpPr>
          <p:nvPr/>
        </p:nvCxnSpPr>
        <p:spPr>
          <a:xfrm flipH="1" flipV="1">
            <a:off x="1019329" y="1679296"/>
            <a:ext cx="3632891" cy="255269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2" name="Straight Arrow Connector 171">
            <a:extLst>
              <a:ext uri="{FF2B5EF4-FFF2-40B4-BE49-F238E27FC236}">
                <a16:creationId xmlns:a16="http://schemas.microsoft.com/office/drawing/2014/main" id="{262FADEF-1290-45BF-B5C2-F260B43C3411}"/>
              </a:ext>
            </a:extLst>
          </p:cNvPr>
          <p:cNvCxnSpPr>
            <a:cxnSpLocks/>
            <a:stCxn id="159" idx="0"/>
            <a:endCxn id="67" idx="2"/>
          </p:cNvCxnSpPr>
          <p:nvPr/>
        </p:nvCxnSpPr>
        <p:spPr>
          <a:xfrm flipV="1">
            <a:off x="1019329" y="1380084"/>
            <a:ext cx="1041025" cy="45338"/>
          </a:xfrm>
          <a:prstGeom prst="straightConnector1">
            <a:avLst/>
          </a:prstGeom>
          <a:ln w="28575">
            <a:solidFill>
              <a:schemeClr val="bg1">
                <a:lumMod val="95000"/>
              </a:schemeClr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4" name="Straight Arrow Connector 173">
            <a:extLst>
              <a:ext uri="{FF2B5EF4-FFF2-40B4-BE49-F238E27FC236}">
                <a16:creationId xmlns:a16="http://schemas.microsoft.com/office/drawing/2014/main" id="{506B6C3F-A705-4908-98C9-0571ED4465A7}"/>
              </a:ext>
            </a:extLst>
          </p:cNvPr>
          <p:cNvCxnSpPr>
            <a:cxnSpLocks/>
            <a:stCxn id="161" idx="0"/>
            <a:endCxn id="70" idx="2"/>
          </p:cNvCxnSpPr>
          <p:nvPr/>
        </p:nvCxnSpPr>
        <p:spPr>
          <a:xfrm flipV="1">
            <a:off x="2724479" y="1186465"/>
            <a:ext cx="2942053" cy="22777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a14="http://schemas.microsoft.com/office/drawing/2010/main">
        <mc:Choice Requires="a14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5AA91B3A-90FE-4C3D-A24C-C81381120031}"/>
                  </a:ext>
                </a:extLst>
              </p:cNvPr>
              <p:cNvSpPr txBox="1"/>
              <p:nvPr/>
            </p:nvSpPr>
            <p:spPr>
              <a:xfrm>
                <a:off x="4934592" y="47374"/>
                <a:ext cx="2625137" cy="421141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𝜎</m:t>
                          </m:r>
                        </m:e>
                        <m: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𝑝𝑝𝑡</m:t>
                          </m:r>
                        </m:sub>
                      </m:sSub>
                      <m:r>
                        <a:rPr lang="en-GB" sz="105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𝑀</m:t>
                          </m:r>
                        </m:e>
                        <m: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𝑝𝑝𝑡</m:t>
                          </m:r>
                        </m:sub>
                      </m:sSub>
                      <m:rad>
                        <m:rad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radPr>
                        <m:deg>
                          <m:r>
                            <m:rPr>
                              <m:brk m:alnAt="7"/>
                            </m:rPr>
                            <a:rPr lang="en-GB" sz="1050" i="1">
                              <a:latin typeface="Cambria Math" panose="02040503050406030204" pitchFamily="18" charset="0"/>
                            </a:rPr>
                            <m:t>𝑞</m:t>
                          </m:r>
                        </m:deg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(</m:t>
                          </m:r>
                          <m:sSup>
                            <m:sSupPr>
                              <m:ctrlPr>
                                <a:rPr lang="en-GB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</a:rPr>
                                    <m:t>𝑤𝑒𝑎𝑘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</m:sSup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+</m:t>
                          </m:r>
                          <m:sSup>
                            <m:sSupPr>
                              <m:ctrlPr>
                                <a:rPr lang="en-GB" sz="1050" i="1">
                                  <a:latin typeface="Cambria Math" panose="02040503050406030204" pitchFamily="18" charset="0"/>
                                </a:rPr>
                              </m:ctrlPr>
                            </m:sSupPr>
                            <m:e>
                              <m:sSub>
                                <m:sSubPr>
                                  <m:ctrlPr>
                                    <a:rPr lang="en-GB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sSub>
                                    <m:sSubPr>
                                      <m:ctrlP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𝜏</m:t>
                                      </m:r>
                                    </m:e>
                                    <m:sub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  <m:sub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</a:rPr>
                                    <m:t>𝑤𝑒𝑎𝑘</m:t>
                                  </m:r>
                                </m:sub>
                              </m:sSub>
                            </m:e>
                            <m:sup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𝑞</m:t>
                              </m:r>
                            </m:sup>
                          </m:sSup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179" name="TextBox 178">
                <a:extLst>
                  <a:ext uri="{FF2B5EF4-FFF2-40B4-BE49-F238E27FC236}">
                    <a16:creationId xmlns:a16="http://schemas.microsoft.com/office/drawing/2014/main" id="{5AA91B3A-90FE-4C3D-A24C-C813811200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934592" y="47374"/>
                <a:ext cx="2625137" cy="421141"/>
              </a:xfrm>
              <a:prstGeom prst="rect">
                <a:avLst/>
              </a:prstGeom>
              <a:blipFill>
                <a:blip r:embed="rId20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98D37BD-04B3-4947-8235-772A5A1A8831}"/>
                  </a:ext>
                </a:extLst>
              </p:cNvPr>
              <p:cNvSpPr txBox="1"/>
              <p:nvPr/>
            </p:nvSpPr>
            <p:spPr>
              <a:xfrm>
                <a:off x="110837" y="692332"/>
                <a:ext cx="3899034" cy="687752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𝑤𝑒𝑎𝑘</m:t>
                          </m:r>
                        </m:sub>
                      </m:sSub>
                      <m:r>
                        <a:rPr lang="en-GB" sz="1050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ad>
                            <m:radPr>
                              <m:degHide m:val="on"/>
                              <m:ctrlPr>
                                <a:rPr lang="en-GB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GB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𝑁𝐷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GB" sz="10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105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2∅</m:t>
                                  </m:r>
                                  <m:sSub>
                                    <m:sSubPr>
                                      <m:ctrlP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𝑃𝑅</m:t>
                                      </m:r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  <m:sub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e>
                              </m:nary>
                            </m:e>
                          </m:rad>
                        </m:num>
                        <m:den>
                          <m:rad>
                            <m:radPr>
                              <m:degHide m:val="on"/>
                              <m:ctrlPr>
                                <a:rPr lang="en-GB" sz="1050" i="1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  <m:rad>
                                <m:radPr>
                                  <m:degHide m:val="on"/>
                                  <m:ctrlPr>
                                    <a:rPr lang="en-GB" sz="1050" i="1">
                                      <a:latin typeface="Cambria Math" panose="02040503050406030204" pitchFamily="18" charset="0"/>
                                    </a:rPr>
                                  </m:ctrlPr>
                                </m:radPr>
                                <m:deg/>
                                <m:e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e>
                              </m:rad>
                              <m:r>
                                <m:rPr>
                                  <m:sty m:val="p"/>
                                </m:rPr>
                                <a:rPr lang="el-GR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Γ</m:t>
                              </m:r>
                            </m:e>
                          </m:rad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𝑏</m:t>
                          </m:r>
                        </m:den>
                      </m:f>
                      <m:sSup>
                        <m:sSup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pPr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(</m:t>
                          </m:r>
                          <m:f>
                            <m:fPr>
                              <m:ctrlPr>
                                <a:rPr lang="en-GB" sz="10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GB" sz="1050" i="1">
                                      <a:latin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𝑁𝐷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GB" sz="10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105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ad>
                                    <m:radPr>
                                      <m:degHide m:val="on"/>
                                      <m:ctrlP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radPr>
                                    <m:deg/>
                                    <m:e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2</m:t>
                                      </m:r>
                                    </m:e>
                                  </m:rad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𝛿</m:t>
                                  </m:r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𝐺</m:t>
                                  </m:r>
                                  <m:sSup>
                                    <m:sSupPr>
                                      <m:ctrlPr>
                                        <a:rPr lang="en-GB" sz="105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</m:ctrlPr>
                                    </m:sSupPr>
                                    <m:e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𝑏</m:t>
                                      </m:r>
                                    </m:e>
                                    <m:sup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  <a:ea typeface="Cambria Math" panose="02040503050406030204" pitchFamily="18" charset="0"/>
                                        </a:rPr>
                                        <m:t>2</m:t>
                                      </m:r>
                                    </m:sup>
                                  </m:sSup>
                                  <m:sSub>
                                    <m:sSubPr>
                                      <m:ctrlP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𝑃𝑅</m:t>
                                      </m:r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[</m:t>
                                      </m:r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]</m:t>
                                      </m:r>
                                    </m:e>
                                    <m:sub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</a:rPr>
                                    <m:t>/</m:t>
                                  </m:r>
                                  <m:sSub>
                                    <m:sSubPr>
                                      <m:ctrlP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𝑃𝑅</m:t>
                                      </m:r>
                                    </m:e>
                                    <m:sub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𝑐</m:t>
                                      </m:r>
                                    </m:sub>
                                  </m:sSub>
                                </m:e>
                              </m:nary>
                            </m:num>
                            <m:den>
                              <m:nary>
                                <m:naryPr>
                                  <m:chr m:val="∑"/>
                                  <m:subHide m:val="on"/>
                                  <m:supHide m:val="on"/>
                                  <m:ctrlPr>
                                    <a:rPr lang="en-GB" sz="1050" i="1"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</m:ctrlPr>
                                </m:naryPr>
                                <m:sub/>
                                <m:sup/>
                                <m:e>
                                  <m:sSub>
                                    <m:sSubPr>
                                      <m:ctrlP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sSubPr>
                                    <m:e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𝑁𝐷</m:t>
                                      </m:r>
                                      <m:d>
                                        <m:dPr>
                                          <m:begChr m:val="["/>
                                          <m:endChr m:val="]"/>
                                          <m:ctrlPr>
                                            <a:rPr lang="en-GB" sz="1050" i="1"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dPr>
                                        <m:e>
                                          <m:r>
                                            <a:rPr lang="en-GB" sz="1050" i="1">
                                              <a:latin typeface="Cambria Math" panose="02040503050406030204" pitchFamily="18" charset="0"/>
                                            </a:rPr>
                                            <m:t>𝑖</m:t>
                                          </m:r>
                                        </m:e>
                                      </m:d>
                                    </m:e>
                                    <m:sub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𝑤</m:t>
                                      </m:r>
                                    </m:sub>
                                  </m:sSub>
                                </m:e>
                              </m:nary>
                            </m:den>
                          </m:f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  <m:sup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3/2</m:t>
                          </m:r>
                        </m:sup>
                      </m:sSup>
                    </m:oMath>
                  </m:oMathPara>
                </a14:m>
                <a:endParaRPr lang="en-GB" sz="1050" dirty="0"/>
              </a:p>
            </p:txBody>
          </p:sp>
        </mc:Choice>
        <mc:Fallback xmlns="">
          <p:sp>
            <p:nvSpPr>
              <p:cNvPr id="67" name="TextBox 66">
                <a:extLst>
                  <a:ext uri="{FF2B5EF4-FFF2-40B4-BE49-F238E27FC236}">
                    <a16:creationId xmlns:a16="http://schemas.microsoft.com/office/drawing/2014/main" id="{D98D37BD-04B3-4947-8235-772A5A1A8831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0837" y="692332"/>
                <a:ext cx="3899034" cy="687752"/>
              </a:xfrm>
              <a:prstGeom prst="rect">
                <a:avLst/>
              </a:prstGeom>
              <a:blipFill>
                <a:blip r:embed="rId21"/>
                <a:stretch>
                  <a:fillRect t="-4237" b="-48305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2A36BCE-FDDB-477C-8737-9956B92AB5C6}"/>
                  </a:ext>
                </a:extLst>
              </p:cNvPr>
              <p:cNvSpPr txBox="1"/>
              <p:nvPr/>
            </p:nvSpPr>
            <p:spPr>
              <a:xfrm>
                <a:off x="4276001" y="616757"/>
                <a:ext cx="2781062" cy="569708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sSub>
                            <m:sSubPr>
                              <m:ctrlPr>
                                <a:rPr lang="en-GB" sz="1050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GB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𝜏</m:t>
                              </m:r>
                            </m:e>
                            <m:sub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sub>
                          </m:sSub>
                        </m:e>
                        <m: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𝑠𝑡𝑟𝑜𝑛𝑔</m:t>
                          </m:r>
                        </m:sub>
                      </m:sSub>
                      <m:r>
                        <a:rPr lang="en-GB" sz="1050" i="1">
                          <a:latin typeface="Cambria Math" panose="02040503050406030204" pitchFamily="18" charset="0"/>
                        </a:rPr>
                        <m:t>=</m:t>
                      </m:r>
                      <m:rad>
                        <m:radPr>
                          <m:degHide m:val="on"/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2</m:t>
                          </m:r>
                        </m:e>
                      </m:rad>
                      <m:r>
                        <a:rPr lang="en-GB" sz="10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𝛿</m:t>
                      </m:r>
                      <m:r>
                        <a:rPr lang="en-GB" sz="1050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𝐺𝑏</m:t>
                      </m:r>
                      <m:rad>
                        <m:radPr>
                          <m:degHide m:val="on"/>
                          <m:ctrlPr>
                            <a:rPr lang="en-GB" sz="1050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nary>
                            <m:naryPr>
                              <m:chr m:val="∑"/>
                              <m:subHide m:val="on"/>
                              <m:supHide m:val="on"/>
                              <m:ctrlPr>
                                <a:rPr lang="en-GB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naryPr>
                            <m:sub/>
                            <m:sup/>
                            <m:e>
                              <m:sSub>
                                <m:sSubPr>
                                  <m:ctrlPr>
                                    <a:rPr lang="en-GB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</a:rPr>
                                    <m:t>𝑁𝐷</m:t>
                                  </m:r>
                                  <m:d>
                                    <m:dPr>
                                      <m:begChr m:val="["/>
                                      <m:endChr m:val="]"/>
                                      <m:ctrlP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r>
                                        <a:rPr lang="en-GB" sz="1050" i="1">
                                          <a:latin typeface="Cambria Math" panose="02040503050406030204" pitchFamily="18" charset="0"/>
                                        </a:rPr>
                                        <m:t>𝑖</m:t>
                                      </m:r>
                                    </m:e>
                                  </m:d>
                                </m:e>
                                <m:sub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  <m:r>
                                <a:rPr lang="en-GB" sz="1050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2∅</m:t>
                              </m:r>
                              <m:sSub>
                                <m:sSubPr>
                                  <m:ctrlPr>
                                    <a:rPr lang="en-GB" sz="1050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</a:rPr>
                                    <m:t>𝑃𝑅</m:t>
                                  </m:r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</a:rPr>
                                    <m:t>[</m:t>
                                  </m:r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</a:rPr>
                                    <m:t>]</m:t>
                                  </m:r>
                                </m:e>
                                <m:sub>
                                  <m:r>
                                    <a:rPr lang="en-GB" sz="1050" i="1">
                                      <a:latin typeface="Cambria Math" panose="02040503050406030204" pitchFamily="18" charset="0"/>
                                    </a:rPr>
                                    <m:t>𝑠</m:t>
                                  </m:r>
                                </m:sub>
                              </m:sSub>
                            </m:e>
                          </m:nary>
                        </m:e>
                      </m:rad>
                    </m:oMath>
                  </m:oMathPara>
                </a14:m>
                <a:endParaRPr lang="en-GB" sz="2100" dirty="0"/>
              </a:p>
            </p:txBody>
          </p:sp>
        </mc:Choice>
        <mc:Fallback xmlns="">
          <p:sp>
            <p:nvSpPr>
              <p:cNvPr id="70" name="TextBox 69">
                <a:extLst>
                  <a:ext uri="{FF2B5EF4-FFF2-40B4-BE49-F238E27FC236}">
                    <a16:creationId xmlns:a16="http://schemas.microsoft.com/office/drawing/2014/main" id="{F2A36BCE-FDDB-477C-8737-9956B92AB5C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276001" y="616757"/>
                <a:ext cx="2781062" cy="569708"/>
              </a:xfrm>
              <a:prstGeom prst="rect">
                <a:avLst/>
              </a:prstGeom>
              <a:blipFill>
                <a:blip r:embed="rId22"/>
                <a:stretch>
                  <a:fillRect t="-78000" b="-117000"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GB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04" name="Straight Arrow Connector 103">
            <a:extLst>
              <a:ext uri="{FF2B5EF4-FFF2-40B4-BE49-F238E27FC236}">
                <a16:creationId xmlns:a16="http://schemas.microsoft.com/office/drawing/2014/main" id="{4B81A803-6B8B-4030-87D7-48C3B1EB2EEA}"/>
              </a:ext>
            </a:extLst>
          </p:cNvPr>
          <p:cNvCxnSpPr>
            <a:cxnSpLocks/>
            <a:stCxn id="67" idx="0"/>
            <a:endCxn id="179" idx="2"/>
          </p:cNvCxnSpPr>
          <p:nvPr/>
        </p:nvCxnSpPr>
        <p:spPr>
          <a:xfrm flipV="1">
            <a:off x="2060354" y="468515"/>
            <a:ext cx="4186807" cy="223817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7" name="Straight Arrow Connector 106">
            <a:extLst>
              <a:ext uri="{FF2B5EF4-FFF2-40B4-BE49-F238E27FC236}">
                <a16:creationId xmlns:a16="http://schemas.microsoft.com/office/drawing/2014/main" id="{B54A7AA6-F02D-4DC4-BC83-A59F4F7DA3AE}"/>
              </a:ext>
            </a:extLst>
          </p:cNvPr>
          <p:cNvCxnSpPr>
            <a:cxnSpLocks/>
            <a:stCxn id="70" idx="0"/>
            <a:endCxn id="179" idx="2"/>
          </p:cNvCxnSpPr>
          <p:nvPr/>
        </p:nvCxnSpPr>
        <p:spPr>
          <a:xfrm flipV="1">
            <a:off x="5666532" y="468515"/>
            <a:ext cx="580629" cy="14824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1" name="Title 1">
            <a:extLst>
              <a:ext uri="{FF2B5EF4-FFF2-40B4-BE49-F238E27FC236}">
                <a16:creationId xmlns:a16="http://schemas.microsoft.com/office/drawing/2014/main" id="{FF1C5720-480B-451A-8693-162008427131}"/>
              </a:ext>
            </a:extLst>
          </p:cNvPr>
          <p:cNvSpPr txBox="1">
            <a:spLocks/>
          </p:cNvSpPr>
          <p:nvPr/>
        </p:nvSpPr>
        <p:spPr>
          <a:xfrm>
            <a:off x="123920" y="107297"/>
            <a:ext cx="3579901" cy="437779"/>
          </a:xfrm>
        </p:spPr>
        <p:txBody>
          <a:bodyPr>
            <a:normAutofit fontScale="85000" lnSpcReduction="1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latin typeface="+mn-lt"/>
              </a:rPr>
              <a:t>Backprop from YS to P1</a:t>
            </a: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AD1249A-3257-432E-BA0D-C960612D7A4B}"/>
                  </a:ext>
                </a:extLst>
              </p:cNvPr>
              <p:cNvSpPr txBox="1"/>
              <p:nvPr/>
            </p:nvSpPr>
            <p:spPr>
              <a:xfrm>
                <a:off x="2224124" y="2775520"/>
                <a:ext cx="2178944" cy="720967"/>
              </a:xfrm>
              <a:prstGeom prst="rect">
                <a:avLst/>
              </a:prstGeom>
              <a:solidFill>
                <a:schemeClr val="bg1"/>
              </a:solidFill>
              <a:ln w="38100">
                <a:solidFill>
                  <a:schemeClr val="tx1"/>
                </a:solidFill>
              </a:ln>
            </p:spPr>
            <p:txBody>
              <a:bodyPr wrap="square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sSubSup>
                        <m:sSubSupPr>
                          <m:ctrlPr>
                            <a:rPr lang="en-GB" sz="1050" i="1" smtClean="0">
                              <a:latin typeface="Cambria Math" panose="02040503050406030204" pitchFamily="18" charset="0"/>
                            </a:rPr>
                          </m:ctrlPr>
                        </m:sSubSupPr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𝑟</m:t>
                          </m:r>
                        </m:e>
                        <m: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𝑝</m:t>
                          </m:r>
                        </m:sub>
                        <m:sup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∗</m:t>
                          </m:r>
                        </m:sup>
                      </m:sSubSup>
                      <m:r>
                        <a:rPr lang="en-GB" sz="1050" i="1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𝑅</m:t>
                          </m:r>
                        </m:e>
                        <m:sub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𝑠</m:t>
                          </m:r>
                        </m:sub>
                      </m:sSub>
                      <m:r>
                        <a:rPr lang="en-GB" sz="1050" i="1">
                          <a:latin typeface="Cambria Math" panose="02040503050406030204" pitchFamily="18" charset="0"/>
                        </a:rPr>
                        <m:t>+</m:t>
                      </m:r>
                      <m:f>
                        <m:fPr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GB" sz="1050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GB" sz="105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GB" sz="105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GB" sz="1050" i="1">
                                  <a:latin typeface="Cambria Math" panose="02040503050406030204" pitchFamily="18" charset="0"/>
                                </a:rPr>
                                <m:t>𝐾𝑇</m:t>
                              </m:r>
                            </m:num>
                            <m:den>
                              <m:eqArr>
                                <m:eqArrPr>
                                  <m:ctrlPr>
                                    <a:rPr lang="en-US" sz="1050" b="0" i="1" smtClean="0">
                                      <a:latin typeface="Cambria Math" panose="02040503050406030204" pitchFamily="18" charset="0"/>
                                    </a:rPr>
                                  </m:ctrlPr>
                                </m:eqArrPr>
                                <m:e>
                                  <m:d>
                                    <m:dPr>
                                      <m:ctrlPr>
                                        <a:rPr lang="en-US" sz="1050" b="0" i="1" smtClean="0">
                                          <a:highlight>
                                            <a:srgbClr val="00FF00"/>
                                          </a:highlight>
                                          <a:latin typeface="Cambria Math" panose="02040503050406030204" pitchFamily="18" charset="0"/>
                                        </a:rPr>
                                      </m:ctrlPr>
                                    </m:dPr>
                                    <m:e>
                                      <m:f>
                                        <m:fPr>
                                          <m:ctrlPr>
                                            <a:rPr lang="en-US" sz="1050" b="0" i="1" smtClean="0">
                                              <a:highlight>
                                                <a:srgbClr val="00FF00"/>
                                              </a:highlight>
                                              <a:latin typeface="Cambria Math" panose="02040503050406030204" pitchFamily="18" charset="0"/>
                                            </a:rPr>
                                          </m:ctrlPr>
                                        </m:fPr>
                                        <m:num>
                                          <m:r>
                                            <a:rPr lang="en-US" sz="1050" b="0" i="1" smtClean="0">
                                              <a:highlight>
                                                <a:srgbClr val="00FF00"/>
                                              </a:highlight>
                                              <a:latin typeface="Cambria Math" panose="02040503050406030204" pitchFamily="18" charset="0"/>
                                            </a:rPr>
                                            <m:t>1</m:t>
                                          </m:r>
                                        </m:num>
                                        <m:den>
                                          <m:r>
                                            <a:rPr lang="en-US" sz="1050" b="0" i="1" smtClean="0">
                                              <a:highlight>
                                                <a:srgbClr val="00FF00"/>
                                              </a:highlight>
                                              <a:latin typeface="Cambria Math" panose="02040503050406030204" pitchFamily="18" charset="0"/>
                                            </a:rPr>
                                            <m:t>𝑝</m:t>
                                          </m:r>
                                          <m:r>
                                            <a:rPr lang="en-US" sz="1050" b="0" i="1" smtClean="0">
                                              <a:highlight>
                                                <a:srgbClr val="00FF00"/>
                                              </a:highlight>
                                              <a:latin typeface="Cambria Math" panose="02040503050406030204" pitchFamily="18" charset="0"/>
                                            </a:rPr>
                                            <m:t>3</m:t>
                                          </m:r>
                                        </m:den>
                                      </m:f>
                                    </m:e>
                                  </m:d>
                                  <m:r>
                                    <a:rPr lang="en-US" sz="1050" b="0" i="1" smtClean="0">
                                      <a:highlight>
                                        <a:srgbClr val="00FF00"/>
                                      </a:highlight>
                                      <a:latin typeface="Cambria Math" panose="02040503050406030204" pitchFamily="18" charset="0"/>
                                    </a:rPr>
                                    <m:t>^2.</m:t>
                                  </m:r>
                                  <m:r>
                                    <a:rPr lang="en-GB" sz="1050" i="1">
                                      <a:highlight>
                                        <a:srgbClr val="00FF00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𝜋</m:t>
                                  </m:r>
                                  <m:r>
                                    <a:rPr lang="en-GB" sz="1050" i="1">
                                      <a:highlight>
                                        <a:srgbClr val="00FF00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∅</m:t>
                                  </m:r>
                                  <m:r>
                                    <a:rPr lang="en-GB" sz="1050" b="1" i="1">
                                      <a:highlight>
                                        <a:srgbClr val="00FF00"/>
                                      </a:highlight>
                                      <a:latin typeface="Cambria Math" panose="02040503050406030204" pitchFamily="18" charset="0"/>
                                      <a:ea typeface="Cambria Math" panose="02040503050406030204" pitchFamily="18" charset="0"/>
                                    </a:rPr>
                                    <m:t>𝜸</m:t>
                                  </m:r>
                                </m:e>
                                <m:e>
                                  <m:r>
                                    <a:rPr lang="en-US" sz="1050" b="0" i="1" smtClean="0">
                                      <a:latin typeface="Cambria Math" panose="02040503050406030204" pitchFamily="18" charset="0"/>
                                    </a:rPr>
                                    <m:t> </m:t>
                                  </m:r>
                                </m:e>
                              </m:eqArr>
                            </m:den>
                          </m:f>
                        </m:e>
                      </m:rad>
                    </m:oMath>
                  </m:oMathPara>
                </a14:m>
                <a:endParaRPr lang="en-GB" sz="1050" dirty="0"/>
              </a:p>
            </p:txBody>
          </p:sp>
        </mc:Choice>
        <mc:Fallback>
          <p:sp>
            <p:nvSpPr>
              <p:cNvPr id="50" name="TextBox 49">
                <a:extLst>
                  <a:ext uri="{FF2B5EF4-FFF2-40B4-BE49-F238E27FC236}">
                    <a16:creationId xmlns:a16="http://schemas.microsoft.com/office/drawing/2014/main" id="{6AD1249A-3257-432E-BA0D-C960612D7A4B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24124" y="2775520"/>
                <a:ext cx="2178944" cy="720967"/>
              </a:xfrm>
              <a:prstGeom prst="rect">
                <a:avLst/>
              </a:prstGeom>
              <a:blipFill>
                <a:blip r:embed="rId23"/>
                <a:stretch>
                  <a:fillRect/>
                </a:stretch>
              </a:blipFill>
              <a:ln w="38100">
                <a:solidFill>
                  <a:schemeClr val="tx1"/>
                </a:solidFill>
              </a:ln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31746403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7">
            <a:extLst>
              <a:ext uri="{FF2B5EF4-FFF2-40B4-BE49-F238E27FC236}">
                <a16:creationId xmlns:a16="http://schemas.microsoft.com/office/drawing/2014/main" id="{AC9958F0-0539-4ECA-8B29-F1D8905805DA}"/>
              </a:ext>
            </a:extLst>
          </p:cNvPr>
          <p:cNvSpPr txBox="1"/>
          <p:nvPr/>
        </p:nvSpPr>
        <p:spPr>
          <a:xfrm>
            <a:off x="303397" y="858901"/>
            <a:ext cx="1119674" cy="3000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 defTabSz="685800">
              <a:buClrTx/>
            </a:pPr>
            <a:r>
              <a:rPr lang="en-US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Param2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0D47E04-ACD4-483F-A7F9-68C21199D3C3}"/>
              </a:ext>
            </a:extLst>
          </p:cNvPr>
          <p:cNvCxnSpPr>
            <a:cxnSpLocks/>
            <a:stCxn id="8" idx="3"/>
            <a:endCxn id="11" idx="1"/>
          </p:cNvCxnSpPr>
          <p:nvPr/>
        </p:nvCxnSpPr>
        <p:spPr>
          <a:xfrm>
            <a:off x="1423071" y="1008942"/>
            <a:ext cx="4183359" cy="2091594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Box 10">
            <a:extLst>
              <a:ext uri="{FF2B5EF4-FFF2-40B4-BE49-F238E27FC236}">
                <a16:creationId xmlns:a16="http://schemas.microsoft.com/office/drawing/2014/main" id="{BE22C52B-FEB5-4106-826F-1988CCAA338A}"/>
              </a:ext>
            </a:extLst>
          </p:cNvPr>
          <p:cNvSpPr txBox="1"/>
          <p:nvPr/>
        </p:nvSpPr>
        <p:spPr>
          <a:xfrm>
            <a:off x="5606430" y="2950495"/>
            <a:ext cx="1119674" cy="3000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 defTabSz="685800">
              <a:buClrTx/>
            </a:pPr>
            <a:r>
              <a:rPr lang="en-US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TND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67A904AE-CDEF-409D-ADA5-572B826759C0}"/>
              </a:ext>
            </a:extLst>
          </p:cNvPr>
          <p:cNvSpPr txBox="1"/>
          <p:nvPr/>
        </p:nvSpPr>
        <p:spPr>
          <a:xfrm>
            <a:off x="7871440" y="1406580"/>
            <a:ext cx="1119674" cy="3000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 defTabSz="685800">
              <a:buClrTx/>
            </a:pPr>
            <a:r>
              <a:rPr lang="en-US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YS</a:t>
            </a:r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662B5DBE-5F86-4B23-9F4B-64CE080F09DA}"/>
              </a:ext>
            </a:extLst>
          </p:cNvPr>
          <p:cNvSpPr txBox="1"/>
          <p:nvPr/>
        </p:nvSpPr>
        <p:spPr>
          <a:xfrm>
            <a:off x="303397" y="2054352"/>
            <a:ext cx="1119674" cy="3000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 defTabSz="685800">
              <a:buClrTx/>
            </a:pPr>
            <a:r>
              <a:rPr lang="en-US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Param4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21E80B47-7B50-4B49-B15F-10B169936332}"/>
              </a:ext>
            </a:extLst>
          </p:cNvPr>
          <p:cNvCxnSpPr>
            <a:cxnSpLocks/>
            <a:stCxn id="32" idx="3"/>
            <a:endCxn id="11" idx="1"/>
          </p:cNvCxnSpPr>
          <p:nvPr/>
        </p:nvCxnSpPr>
        <p:spPr>
          <a:xfrm>
            <a:off x="1423071" y="2204393"/>
            <a:ext cx="4183359" cy="896143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TextBox 36">
            <a:extLst>
              <a:ext uri="{FF2B5EF4-FFF2-40B4-BE49-F238E27FC236}">
                <a16:creationId xmlns:a16="http://schemas.microsoft.com/office/drawing/2014/main" id="{1F3DFC1C-48DA-4470-B51E-1FC683A21D30}"/>
              </a:ext>
            </a:extLst>
          </p:cNvPr>
          <p:cNvSpPr txBox="1"/>
          <p:nvPr/>
        </p:nvSpPr>
        <p:spPr>
          <a:xfrm>
            <a:off x="303397" y="2459191"/>
            <a:ext cx="1119674" cy="3000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 defTabSz="685800">
              <a:buClrTx/>
            </a:pPr>
            <a:r>
              <a:rPr lang="en-US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Param5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D66FBAE0-938E-43AE-BA0A-3202B28A13C0}"/>
              </a:ext>
            </a:extLst>
          </p:cNvPr>
          <p:cNvSpPr txBox="1"/>
          <p:nvPr/>
        </p:nvSpPr>
        <p:spPr>
          <a:xfrm>
            <a:off x="5580768" y="3634568"/>
            <a:ext cx="1119674" cy="3000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 defTabSz="685800">
              <a:buClrTx/>
            </a:pPr>
            <a:r>
              <a:rPr lang="en-US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MPR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258506E6-F1BF-4CF1-A474-5E024CDB24E6}"/>
              </a:ext>
            </a:extLst>
          </p:cNvPr>
          <p:cNvSpPr txBox="1"/>
          <p:nvPr/>
        </p:nvSpPr>
        <p:spPr>
          <a:xfrm>
            <a:off x="284850" y="3123178"/>
            <a:ext cx="1119674" cy="3000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 defTabSz="685800">
              <a:buClrTx/>
            </a:pPr>
            <a:r>
              <a:rPr lang="en-US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Param6</a:t>
            </a:r>
          </a:p>
        </p:txBody>
      </p:sp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D1D6B99-9240-447E-8553-1046ADA05F73}"/>
              </a:ext>
            </a:extLst>
          </p:cNvPr>
          <p:cNvCxnSpPr>
            <a:cxnSpLocks/>
            <a:stCxn id="17" idx="3"/>
            <a:endCxn id="16" idx="1"/>
          </p:cNvCxnSpPr>
          <p:nvPr/>
        </p:nvCxnSpPr>
        <p:spPr>
          <a:xfrm>
            <a:off x="1404524" y="3273219"/>
            <a:ext cx="4176244" cy="51139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TextBox 21">
            <a:extLst>
              <a:ext uri="{FF2B5EF4-FFF2-40B4-BE49-F238E27FC236}">
                <a16:creationId xmlns:a16="http://schemas.microsoft.com/office/drawing/2014/main" id="{0AC814D7-E30E-411B-962A-40413256AE7E}"/>
              </a:ext>
            </a:extLst>
          </p:cNvPr>
          <p:cNvSpPr txBox="1"/>
          <p:nvPr/>
        </p:nvSpPr>
        <p:spPr>
          <a:xfrm>
            <a:off x="267812" y="4646436"/>
            <a:ext cx="1119674" cy="3000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 defTabSz="685800">
              <a:buClrTx/>
            </a:pPr>
            <a:r>
              <a:rPr lang="en-US" sz="1350" kern="1200" dirty="0" err="1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Rad_total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23" name="Straight Arrow Connector 22">
            <a:extLst>
              <a:ext uri="{FF2B5EF4-FFF2-40B4-BE49-F238E27FC236}">
                <a16:creationId xmlns:a16="http://schemas.microsoft.com/office/drawing/2014/main" id="{E8139819-EFD6-4585-BDF8-D9F7C04ACEE9}"/>
              </a:ext>
            </a:extLst>
          </p:cNvPr>
          <p:cNvCxnSpPr>
            <a:cxnSpLocks/>
            <a:stCxn id="22" idx="3"/>
            <a:endCxn id="16" idx="1"/>
          </p:cNvCxnSpPr>
          <p:nvPr/>
        </p:nvCxnSpPr>
        <p:spPr>
          <a:xfrm flipV="1">
            <a:off x="1387486" y="3784609"/>
            <a:ext cx="4193282" cy="1011868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Straight Arrow Connector 26">
            <a:extLst>
              <a:ext uri="{FF2B5EF4-FFF2-40B4-BE49-F238E27FC236}">
                <a16:creationId xmlns:a16="http://schemas.microsoft.com/office/drawing/2014/main" id="{01BFB55C-6C92-4D43-A210-1FD5DED53952}"/>
              </a:ext>
            </a:extLst>
          </p:cNvPr>
          <p:cNvCxnSpPr>
            <a:cxnSpLocks/>
            <a:stCxn id="32" idx="3"/>
            <a:endCxn id="16" idx="1"/>
          </p:cNvCxnSpPr>
          <p:nvPr/>
        </p:nvCxnSpPr>
        <p:spPr>
          <a:xfrm>
            <a:off x="1423071" y="2204393"/>
            <a:ext cx="4157697" cy="1580216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id="{1351738C-4193-4DCA-8127-1D668559D3E0}"/>
              </a:ext>
            </a:extLst>
          </p:cNvPr>
          <p:cNvSpPr txBox="1"/>
          <p:nvPr/>
        </p:nvSpPr>
        <p:spPr>
          <a:xfrm>
            <a:off x="267812" y="3898828"/>
            <a:ext cx="1119674" cy="3000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 defTabSz="685800">
              <a:buClrTx/>
            </a:pPr>
            <a:r>
              <a:rPr lang="en-US" sz="1350" kern="1200" dirty="0" err="1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vel_total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2BB8FE15-5295-4927-ABC3-1F9F9BF223E2}"/>
              </a:ext>
            </a:extLst>
          </p:cNvPr>
          <p:cNvCxnSpPr>
            <a:cxnSpLocks/>
            <a:stCxn id="30" idx="3"/>
            <a:endCxn id="16" idx="1"/>
          </p:cNvCxnSpPr>
          <p:nvPr/>
        </p:nvCxnSpPr>
        <p:spPr>
          <a:xfrm flipV="1">
            <a:off x="1387486" y="3784609"/>
            <a:ext cx="4193282" cy="26426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F1D74B8E-7AA6-4668-8C0D-FDA4F9290DAB}"/>
              </a:ext>
            </a:extLst>
          </p:cNvPr>
          <p:cNvSpPr txBox="1"/>
          <p:nvPr/>
        </p:nvSpPr>
        <p:spPr>
          <a:xfrm>
            <a:off x="270035" y="4273930"/>
            <a:ext cx="1119674" cy="3000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 defTabSz="685800">
              <a:buClrTx/>
            </a:pPr>
            <a:r>
              <a:rPr lang="en-US" sz="1350" kern="1200" dirty="0" err="1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Vel_growth</a:t>
            </a:r>
            <a:endParaRPr lang="en-US" sz="1350" kern="1200" dirty="0">
              <a:solidFill>
                <a:prstClr val="black"/>
              </a:solidFill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F0F52174-3312-46D3-BAC3-C7473D2EDD4A}"/>
              </a:ext>
            </a:extLst>
          </p:cNvPr>
          <p:cNvCxnSpPr>
            <a:cxnSpLocks/>
            <a:stCxn id="35" idx="3"/>
            <a:endCxn id="16" idx="1"/>
          </p:cNvCxnSpPr>
          <p:nvPr/>
        </p:nvCxnSpPr>
        <p:spPr>
          <a:xfrm flipV="1">
            <a:off x="1389709" y="3784609"/>
            <a:ext cx="4191059" cy="639362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Straight Arrow Connector 41">
            <a:extLst>
              <a:ext uri="{FF2B5EF4-FFF2-40B4-BE49-F238E27FC236}">
                <a16:creationId xmlns:a16="http://schemas.microsoft.com/office/drawing/2014/main" id="{8483FB86-932F-4FBB-9E68-028C45492C84}"/>
              </a:ext>
            </a:extLst>
          </p:cNvPr>
          <p:cNvCxnSpPr>
            <a:cxnSpLocks/>
            <a:stCxn id="37" idx="3"/>
            <a:endCxn id="16" idx="1"/>
          </p:cNvCxnSpPr>
          <p:nvPr/>
        </p:nvCxnSpPr>
        <p:spPr>
          <a:xfrm>
            <a:off x="1423071" y="2609232"/>
            <a:ext cx="4157697" cy="1175377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8B74CDE6-CB39-45C0-BFFC-A49BF6CFF7DC}"/>
              </a:ext>
            </a:extLst>
          </p:cNvPr>
          <p:cNvCxnSpPr>
            <a:cxnSpLocks/>
            <a:stCxn id="30" idx="3"/>
            <a:endCxn id="11" idx="1"/>
          </p:cNvCxnSpPr>
          <p:nvPr/>
        </p:nvCxnSpPr>
        <p:spPr>
          <a:xfrm flipV="1">
            <a:off x="1387486" y="3100536"/>
            <a:ext cx="4218944" cy="948333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Straight Arrow Connector 47">
            <a:extLst>
              <a:ext uri="{FF2B5EF4-FFF2-40B4-BE49-F238E27FC236}">
                <a16:creationId xmlns:a16="http://schemas.microsoft.com/office/drawing/2014/main" id="{15921045-F287-414E-B2DE-7C34886C38F8}"/>
              </a:ext>
            </a:extLst>
          </p:cNvPr>
          <p:cNvCxnSpPr>
            <a:cxnSpLocks/>
            <a:stCxn id="37" idx="3"/>
            <a:endCxn id="11" idx="1"/>
          </p:cNvCxnSpPr>
          <p:nvPr/>
        </p:nvCxnSpPr>
        <p:spPr>
          <a:xfrm>
            <a:off x="1423071" y="2609232"/>
            <a:ext cx="4183359" cy="491304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3" name="TextBox 52">
            <a:extLst>
              <a:ext uri="{FF2B5EF4-FFF2-40B4-BE49-F238E27FC236}">
                <a16:creationId xmlns:a16="http://schemas.microsoft.com/office/drawing/2014/main" id="{EBFE4672-6E07-4024-94B7-053488328DB9}"/>
              </a:ext>
            </a:extLst>
          </p:cNvPr>
          <p:cNvSpPr txBox="1"/>
          <p:nvPr/>
        </p:nvSpPr>
        <p:spPr>
          <a:xfrm>
            <a:off x="303397" y="1283815"/>
            <a:ext cx="1119674" cy="3000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 defTabSz="685800">
              <a:buClrTx/>
            </a:pPr>
            <a:r>
              <a:rPr lang="en-US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Param3</a:t>
            </a:r>
          </a:p>
        </p:txBody>
      </p:sp>
      <p:cxnSp>
        <p:nvCxnSpPr>
          <p:cNvPr id="54" name="Straight Arrow Connector 53">
            <a:extLst>
              <a:ext uri="{FF2B5EF4-FFF2-40B4-BE49-F238E27FC236}">
                <a16:creationId xmlns:a16="http://schemas.microsoft.com/office/drawing/2014/main" id="{801C04D9-280C-4CEB-8B0E-E2AFD82C6B86}"/>
              </a:ext>
            </a:extLst>
          </p:cNvPr>
          <p:cNvCxnSpPr>
            <a:cxnSpLocks/>
            <a:stCxn id="53" idx="3"/>
            <a:endCxn id="11" idx="1"/>
          </p:cNvCxnSpPr>
          <p:nvPr/>
        </p:nvCxnSpPr>
        <p:spPr>
          <a:xfrm>
            <a:off x="1423071" y="1433856"/>
            <a:ext cx="4183359" cy="1666680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7" name="Straight Arrow Connector 66">
            <a:extLst>
              <a:ext uri="{FF2B5EF4-FFF2-40B4-BE49-F238E27FC236}">
                <a16:creationId xmlns:a16="http://schemas.microsoft.com/office/drawing/2014/main" id="{650FCB44-5AB8-49F5-8F05-E245B3752153}"/>
              </a:ext>
            </a:extLst>
          </p:cNvPr>
          <p:cNvCxnSpPr>
            <a:cxnSpLocks/>
            <a:stCxn id="17" idx="3"/>
            <a:endCxn id="20" idx="1"/>
          </p:cNvCxnSpPr>
          <p:nvPr/>
        </p:nvCxnSpPr>
        <p:spPr>
          <a:xfrm flipV="1">
            <a:off x="1404524" y="1556621"/>
            <a:ext cx="6466916" cy="1716598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53F8F1C1-81D4-4E41-A799-583B2F373DF3}"/>
              </a:ext>
            </a:extLst>
          </p:cNvPr>
          <p:cNvCxnSpPr>
            <a:cxnSpLocks/>
            <a:stCxn id="37" idx="3"/>
            <a:endCxn id="20" idx="1"/>
          </p:cNvCxnSpPr>
          <p:nvPr/>
        </p:nvCxnSpPr>
        <p:spPr>
          <a:xfrm flipV="1">
            <a:off x="1423071" y="1556621"/>
            <a:ext cx="6448369" cy="1052611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4" name="Straight Arrow Connector 73">
            <a:extLst>
              <a:ext uri="{FF2B5EF4-FFF2-40B4-BE49-F238E27FC236}">
                <a16:creationId xmlns:a16="http://schemas.microsoft.com/office/drawing/2014/main" id="{4126B88F-3B92-499B-A357-80C8FAEE2E94}"/>
              </a:ext>
            </a:extLst>
          </p:cNvPr>
          <p:cNvCxnSpPr>
            <a:cxnSpLocks/>
            <a:stCxn id="8" idx="3"/>
            <a:endCxn id="20" idx="1"/>
          </p:cNvCxnSpPr>
          <p:nvPr/>
        </p:nvCxnSpPr>
        <p:spPr>
          <a:xfrm>
            <a:off x="1423071" y="1008942"/>
            <a:ext cx="6448369" cy="547679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7" name="Straight Arrow Connector 76">
            <a:extLst>
              <a:ext uri="{FF2B5EF4-FFF2-40B4-BE49-F238E27FC236}">
                <a16:creationId xmlns:a16="http://schemas.microsoft.com/office/drawing/2014/main" id="{C7EB94DE-15FD-4764-AA78-9F92F5D3EF6B}"/>
              </a:ext>
            </a:extLst>
          </p:cNvPr>
          <p:cNvCxnSpPr>
            <a:cxnSpLocks/>
            <a:stCxn id="53" idx="3"/>
            <a:endCxn id="20" idx="1"/>
          </p:cNvCxnSpPr>
          <p:nvPr/>
        </p:nvCxnSpPr>
        <p:spPr>
          <a:xfrm>
            <a:off x="1423071" y="1433856"/>
            <a:ext cx="6448369" cy="122765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0" name="Straight Arrow Connector 79">
            <a:extLst>
              <a:ext uri="{FF2B5EF4-FFF2-40B4-BE49-F238E27FC236}">
                <a16:creationId xmlns:a16="http://schemas.microsoft.com/office/drawing/2014/main" id="{EAE0A2DA-3C12-4AC9-8607-DA24CCDB0956}"/>
              </a:ext>
            </a:extLst>
          </p:cNvPr>
          <p:cNvCxnSpPr>
            <a:cxnSpLocks/>
            <a:stCxn id="32" idx="3"/>
            <a:endCxn id="20" idx="1"/>
          </p:cNvCxnSpPr>
          <p:nvPr/>
        </p:nvCxnSpPr>
        <p:spPr>
          <a:xfrm flipV="1">
            <a:off x="1423071" y="1556621"/>
            <a:ext cx="6448369" cy="647772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8" name="Straight Arrow Connector 127">
            <a:extLst>
              <a:ext uri="{FF2B5EF4-FFF2-40B4-BE49-F238E27FC236}">
                <a16:creationId xmlns:a16="http://schemas.microsoft.com/office/drawing/2014/main" id="{2FDBDE5A-CB44-4E91-87EB-C2AF4D50A6C9}"/>
              </a:ext>
            </a:extLst>
          </p:cNvPr>
          <p:cNvCxnSpPr>
            <a:cxnSpLocks/>
            <a:stCxn id="22" idx="3"/>
            <a:endCxn id="11" idx="1"/>
          </p:cNvCxnSpPr>
          <p:nvPr/>
        </p:nvCxnSpPr>
        <p:spPr>
          <a:xfrm flipV="1">
            <a:off x="1387486" y="3100536"/>
            <a:ext cx="4218944" cy="1695941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1" name="Straight Arrow Connector 130">
            <a:extLst>
              <a:ext uri="{FF2B5EF4-FFF2-40B4-BE49-F238E27FC236}">
                <a16:creationId xmlns:a16="http://schemas.microsoft.com/office/drawing/2014/main" id="{CDCBE614-EB17-474A-9008-D97762EA99F3}"/>
              </a:ext>
            </a:extLst>
          </p:cNvPr>
          <p:cNvCxnSpPr>
            <a:cxnSpLocks/>
            <a:stCxn id="35" idx="3"/>
            <a:endCxn id="11" idx="1"/>
          </p:cNvCxnSpPr>
          <p:nvPr/>
        </p:nvCxnSpPr>
        <p:spPr>
          <a:xfrm flipV="1">
            <a:off x="1389709" y="3100536"/>
            <a:ext cx="4216721" cy="1323435"/>
          </a:xfrm>
          <a:prstGeom prst="straightConnector1">
            <a:avLst/>
          </a:prstGeom>
          <a:ln w="76200">
            <a:solidFill>
              <a:schemeClr val="accent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2" name="Straight Arrow Connector 151">
            <a:extLst>
              <a:ext uri="{FF2B5EF4-FFF2-40B4-BE49-F238E27FC236}">
                <a16:creationId xmlns:a16="http://schemas.microsoft.com/office/drawing/2014/main" id="{26A534AB-EDD7-45E9-8038-102943A5820B}"/>
              </a:ext>
            </a:extLst>
          </p:cNvPr>
          <p:cNvCxnSpPr>
            <a:cxnSpLocks/>
            <a:stCxn id="8" idx="3"/>
            <a:endCxn id="16" idx="1"/>
          </p:cNvCxnSpPr>
          <p:nvPr/>
        </p:nvCxnSpPr>
        <p:spPr>
          <a:xfrm>
            <a:off x="1423071" y="1008942"/>
            <a:ext cx="4157697" cy="2775667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Straight Arrow Connector 154">
            <a:extLst>
              <a:ext uri="{FF2B5EF4-FFF2-40B4-BE49-F238E27FC236}">
                <a16:creationId xmlns:a16="http://schemas.microsoft.com/office/drawing/2014/main" id="{6B158D62-598D-4EF9-8787-71E13798C7DE}"/>
              </a:ext>
            </a:extLst>
          </p:cNvPr>
          <p:cNvCxnSpPr>
            <a:cxnSpLocks/>
            <a:stCxn id="53" idx="3"/>
            <a:endCxn id="16" idx="1"/>
          </p:cNvCxnSpPr>
          <p:nvPr/>
        </p:nvCxnSpPr>
        <p:spPr>
          <a:xfrm>
            <a:off x="1423071" y="1433856"/>
            <a:ext cx="4157697" cy="2350753"/>
          </a:xfrm>
          <a:prstGeom prst="straightConnector1">
            <a:avLst/>
          </a:prstGeom>
          <a:ln w="76200">
            <a:solidFill>
              <a:schemeClr val="accent2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8" name="TextBox 117">
            <a:extLst>
              <a:ext uri="{FF2B5EF4-FFF2-40B4-BE49-F238E27FC236}">
                <a16:creationId xmlns:a16="http://schemas.microsoft.com/office/drawing/2014/main" id="{3702EBD5-72B6-4568-A4FF-E7EBAA5ADB78}"/>
              </a:ext>
            </a:extLst>
          </p:cNvPr>
          <p:cNvSpPr txBox="1"/>
          <p:nvPr/>
        </p:nvSpPr>
        <p:spPr>
          <a:xfrm>
            <a:off x="6822243" y="2237701"/>
            <a:ext cx="1119674" cy="300082"/>
          </a:xfrm>
          <a:prstGeom prst="rect">
            <a:avLst/>
          </a:prstGeom>
          <a:noFill/>
          <a:ln>
            <a:solidFill>
              <a:schemeClr val="tx2"/>
            </a:solidFill>
          </a:ln>
        </p:spPr>
        <p:txBody>
          <a:bodyPr wrap="square" rtlCol="0">
            <a:spAutoFit/>
          </a:bodyPr>
          <a:lstStyle/>
          <a:p>
            <a:pPr algn="ctr" defTabSz="685800">
              <a:buClrTx/>
            </a:pPr>
            <a:r>
              <a:rPr lang="en-US" sz="1350" kern="1200" dirty="0">
                <a:solidFill>
                  <a:prstClr val="black"/>
                </a:solidFill>
                <a:latin typeface="Calibri" panose="020F0502020204030204"/>
                <a:ea typeface="+mn-ea"/>
                <a:cs typeface="+mn-cs"/>
              </a:rPr>
              <a:t>VF</a:t>
            </a:r>
          </a:p>
        </p:txBody>
      </p:sp>
      <p:sp>
        <p:nvSpPr>
          <p:cNvPr id="38" name="Title 1">
            <a:extLst>
              <a:ext uri="{FF2B5EF4-FFF2-40B4-BE49-F238E27FC236}">
                <a16:creationId xmlns:a16="http://schemas.microsoft.com/office/drawing/2014/main" id="{E7CA62CE-5F82-448B-B597-23E72D753B05}"/>
              </a:ext>
            </a:extLst>
          </p:cNvPr>
          <p:cNvSpPr txBox="1">
            <a:spLocks/>
          </p:cNvSpPr>
          <p:nvPr/>
        </p:nvSpPr>
        <p:spPr>
          <a:xfrm>
            <a:off x="1470800" y="139955"/>
            <a:ext cx="6960477" cy="942739"/>
          </a:xfrm>
        </p:spPr>
        <p:txBody>
          <a:bodyPr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GB" sz="3200" b="1" dirty="0">
                <a:solidFill>
                  <a:schemeClr val="accent6"/>
                </a:solidFill>
                <a:latin typeface="+mn-lt"/>
              </a:rPr>
              <a:t>Successful</a:t>
            </a:r>
            <a:r>
              <a:rPr lang="en-GB" sz="3200" b="1" dirty="0">
                <a:latin typeface="+mn-lt"/>
              </a:rPr>
              <a:t> vs </a:t>
            </a:r>
            <a:r>
              <a:rPr lang="en-GB" sz="3200" b="1" dirty="0">
                <a:solidFill>
                  <a:schemeClr val="accent2"/>
                </a:solidFill>
                <a:latin typeface="+mn-lt"/>
              </a:rPr>
              <a:t>Unsuccessful</a:t>
            </a:r>
            <a:r>
              <a:rPr lang="en-GB" sz="3200" b="1" dirty="0">
                <a:latin typeface="+mn-lt"/>
              </a:rPr>
              <a:t> </a:t>
            </a:r>
            <a:r>
              <a:rPr lang="en-GB" sz="3200" b="1" dirty="0" err="1">
                <a:latin typeface="+mn-lt"/>
              </a:rPr>
              <a:t>Backprops</a:t>
            </a:r>
            <a:endParaRPr lang="en-GB" sz="3200" b="1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63967756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32EF5FC-260D-4C9A-9C3B-CE9A10A9B71B}"/>
              </a:ext>
            </a:extLst>
          </p:cNvPr>
          <p:cNvSpPr txBox="1"/>
          <p:nvPr/>
        </p:nvSpPr>
        <p:spPr>
          <a:xfrm>
            <a:off x="1055648" y="2200507"/>
            <a:ext cx="613317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Make a </a:t>
            </a:r>
            <a:r>
              <a:rPr lang="en-US" dirty="0" err="1"/>
              <a:t>Dgvol</a:t>
            </a:r>
            <a:r>
              <a:rPr lang="en-US" dirty="0"/>
              <a:t>(</a:t>
            </a:r>
            <a:r>
              <a:rPr lang="en-US" dirty="0" err="1"/>
              <a:t>i</a:t>
            </a:r>
            <a:r>
              <a:rPr lang="en-US" dirty="0"/>
              <a:t>) and append it along the simulation. In the growth function, multiply the positive-</a:t>
            </a:r>
            <a:r>
              <a:rPr lang="en-US" dirty="0" err="1"/>
              <a:t>dgvol</a:t>
            </a:r>
            <a:r>
              <a:rPr lang="en-US" dirty="0"/>
              <a:t> Rp’s with a sigmoid function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D7446783-97EB-4751-AEB4-A6F6502F4496}"/>
              </a:ext>
            </a:extLst>
          </p:cNvPr>
          <p:cNvSpPr txBox="1"/>
          <p:nvPr/>
        </p:nvSpPr>
        <p:spPr>
          <a:xfrm>
            <a:off x="1182029" y="1214595"/>
            <a:ext cx="451252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Problem: the </a:t>
            </a:r>
            <a:r>
              <a:rPr lang="en-US" dirty="0" err="1"/>
              <a:t>rs</a:t>
            </a:r>
            <a:r>
              <a:rPr lang="en-US" dirty="0"/>
              <a:t> and Rp’s in the denominator causes zero division. Meanwhile the Rp’s has to be zero for positive driving force in order to make the TVF and </a:t>
            </a:r>
            <a:r>
              <a:rPr lang="en-US" dirty="0" err="1"/>
              <a:t>x_mg</a:t>
            </a:r>
            <a:r>
              <a:rPr lang="en-US" dirty="0"/>
              <a:t>, </a:t>
            </a:r>
            <a:r>
              <a:rPr lang="en-US" dirty="0" err="1"/>
              <a:t>x_si</a:t>
            </a:r>
            <a:r>
              <a:rPr lang="en-US" dirty="0"/>
              <a:t> calculations accurate.</a:t>
            </a:r>
          </a:p>
        </p:txBody>
      </p:sp>
    </p:spTree>
    <p:extLst>
      <p:ext uri="{BB962C8B-B14F-4D97-AF65-F5344CB8AC3E}">
        <p14:creationId xmlns:p14="http://schemas.microsoft.com/office/powerpoint/2010/main" val="2016863816"/>
      </p:ext>
    </p:extLst>
  </p:cSld>
  <p:clrMapOvr>
    <a:masterClrMapping/>
  </p:clrMapOvr>
</p:sld>
</file>

<file path=ppt/theme/theme1.xml><?xml version="1.0" encoding="utf-8"?>
<a:theme xmlns:a="http://schemas.openxmlformats.org/drawingml/2006/main" name="AI Tech Agency Infographics by Slidesgo">
  <a:themeElements>
    <a:clrScheme name="Simple Light">
      <a:dk1>
        <a:srgbClr val="0C343D"/>
      </a:dk1>
      <a:lt1>
        <a:srgbClr val="00C3B1"/>
      </a:lt1>
      <a:dk2>
        <a:srgbClr val="CC4125"/>
      </a:dk2>
      <a:lt2>
        <a:srgbClr val="F3F3F3"/>
      </a:lt2>
      <a:accent1>
        <a:srgbClr val="0C343D"/>
      </a:accent1>
      <a:accent2>
        <a:srgbClr val="00C3B1"/>
      </a:accent2>
      <a:accent3>
        <a:srgbClr val="CC4125"/>
      </a:accent3>
      <a:accent4>
        <a:srgbClr val="F3F3F3"/>
      </a:accent4>
      <a:accent5>
        <a:srgbClr val="0C343D"/>
      </a:accent5>
      <a:accent6>
        <a:srgbClr val="00C3B1"/>
      </a:accent6>
      <a:hlink>
        <a:srgbClr val="F3F3F3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22511</TotalTime>
  <Words>225</Words>
  <Application>Microsoft Office PowerPoint</Application>
  <PresentationFormat>On-screen Show (16:9)</PresentationFormat>
  <Paragraphs>43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4</vt:i4>
      </vt:variant>
    </vt:vector>
  </HeadingPairs>
  <TitlesOfParts>
    <vt:vector size="13" baseType="lpstr">
      <vt:lpstr>Arial</vt:lpstr>
      <vt:lpstr>Fira Sans Condensed Light</vt:lpstr>
      <vt:lpstr>Calibri Light</vt:lpstr>
      <vt:lpstr>Calibri</vt:lpstr>
      <vt:lpstr>Rajdhani</vt:lpstr>
      <vt:lpstr>Fira Sans Condensed</vt:lpstr>
      <vt:lpstr>Cambria Math</vt:lpstr>
      <vt:lpstr>AI Tech Agency Infographics by Slidesgo</vt:lpstr>
      <vt:lpstr>Office Theme</vt:lpstr>
      <vt:lpstr>Debugging the backprop of the PEML-KWN model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Physics-based Data-driven Modelling of Aluminium Processing</dc:title>
  <cp:lastModifiedBy>Amir Alizadeh</cp:lastModifiedBy>
  <cp:revision>245</cp:revision>
  <dcterms:modified xsi:type="dcterms:W3CDTF">2026-01-15T18:25:17Z</dcterms:modified>
</cp:coreProperties>
</file>